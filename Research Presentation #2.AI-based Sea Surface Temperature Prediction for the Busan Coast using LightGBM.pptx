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72482" autoAdjust="0"/>
  </p:normalViewPr>
  <p:slideViewPr>
    <p:cSldViewPr snapToGrid="0">
      <p:cViewPr varScale="1">
        <p:scale>
          <a:sx n="83" d="100"/>
          <a:sy n="83" d="100"/>
        </p:scale>
        <p:origin x="16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5BA77-5CB2-4BC7-8E94-E88CC152CF6D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BDDA0-EB37-442C-98AE-A98659E5C0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113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8358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B3316-A6D2-41A4-AB53-A4DA7C141CE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705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SSP1-2.6 (</a:t>
            </a:r>
            <a:r>
              <a:rPr lang="ko-KR" altLang="en-US" b="1" dirty="0"/>
              <a:t>좌측 지도</a:t>
            </a:r>
            <a:r>
              <a:rPr lang="en-US" altLang="ko-KR" b="1" dirty="0"/>
              <a:t>)</a:t>
            </a:r>
            <a:r>
              <a:rPr lang="en-US" altLang="ko-KR" dirty="0"/>
              <a:t>: 2100</a:t>
            </a:r>
            <a:r>
              <a:rPr lang="ko-KR" altLang="en-US" dirty="0"/>
              <a:t>년 기준으로 복사 강제력</a:t>
            </a:r>
            <a:r>
              <a:rPr lang="en-US" altLang="ko-KR" dirty="0"/>
              <a:t>(Radiative Forcing)</a:t>
            </a:r>
            <a:r>
              <a:rPr lang="ko-KR" altLang="en-US" dirty="0"/>
              <a:t>이 </a:t>
            </a:r>
            <a:r>
              <a:rPr lang="en-US" altLang="ko-KR" dirty="0"/>
              <a:t>2.6 W/m² </a:t>
            </a:r>
            <a:r>
              <a:rPr lang="ko-KR" altLang="en-US" dirty="0"/>
              <a:t>수준으로 안정화되는 것을 의미합니다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복사 강제력은 지구의 에너지 균형에 영향을 미치는 요인으로</a:t>
            </a:r>
            <a:r>
              <a:rPr lang="en-US" altLang="ko-KR" dirty="0"/>
              <a:t>, </a:t>
            </a:r>
            <a:r>
              <a:rPr lang="ko-KR" altLang="en-US" dirty="0"/>
              <a:t>이 수치가 낮을수록 지구 온난화가 덜 심각하다는 </a:t>
            </a:r>
            <a:r>
              <a:rPr lang="ko-KR" altLang="en-US" dirty="0" err="1"/>
              <a:t>뜻이에요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인류가 지속가능한 발전을 추구하고 온실가스를 대폭 감축했을 때</a:t>
            </a:r>
            <a:r>
              <a:rPr lang="en-US" altLang="ko-KR" dirty="0"/>
              <a:t>, </a:t>
            </a:r>
            <a:endParaRPr lang="en-US" altLang="ko-KR" sz="200" dirty="0"/>
          </a:p>
          <a:p>
            <a:r>
              <a:rPr lang="ko-KR" altLang="en-US" dirty="0"/>
              <a:t>부산 연안의 해수면 온도 변화가 상대적으로 덜 심각할 것이라는 희망적인 미래를 보여줍니다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SSP5-8.5 (</a:t>
            </a:r>
            <a:r>
              <a:rPr lang="ko-KR" altLang="en-US" b="1" dirty="0"/>
              <a:t>우측 지도</a:t>
            </a:r>
            <a:r>
              <a:rPr lang="en-US" altLang="ko-KR" b="1" dirty="0"/>
              <a:t>)</a:t>
            </a:r>
            <a:r>
              <a:rPr lang="en-US" altLang="ko-KR" dirty="0"/>
              <a:t>: 2100</a:t>
            </a:r>
            <a:r>
              <a:rPr lang="ko-KR" altLang="en-US" dirty="0"/>
              <a:t>년 기준으로 복사 강제력이 </a:t>
            </a:r>
            <a:r>
              <a:rPr lang="en-US" altLang="ko-KR" dirty="0"/>
              <a:t>8.5 W/m² </a:t>
            </a:r>
            <a:r>
              <a:rPr lang="ko-KR" altLang="en-US" dirty="0"/>
              <a:t>수준으로 매우 높아지는 것을 의미합니다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이는 </a:t>
            </a:r>
            <a:r>
              <a:rPr lang="ko-KR" altLang="en-US" b="1" dirty="0"/>
              <a:t>가장 비관적인 시나리오 중 하나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ko-KR" altLang="en-US" dirty="0"/>
              <a:t>현재와 같은 추세로 온실가스 배출이 계속되거나 심지어 더 증가할 경우의 미래를 가정합니다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현재와 같은 화석 연료 중심의 발전과 온실가스 배출이 지속될 경우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부산 연안을 포함한 전 세계 해수면 온도가 크게 상승하여 심각한 영향을 미칠 수 있다는 경고성 미래를 보여줍니다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B3316-A6D2-41A4-AB53-A4DA7C141CE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701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BDDA0-EB37-442C-98AE-A98659E5C02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821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BDDA0-EB37-442C-98AE-A98659E5C02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321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821498-7891-46F7-BF50-7DBBA0050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9B30561-D798-4BC1-8834-E76BE432C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7FF20A-98C7-4BA8-AAC4-546A464D9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606D-3304-4AA9-BDB2-266F25221FEB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7C8710-2A1C-4410-8991-41376F25B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2942AA-B613-4497-A2E2-4C5E09C4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C98C-C6DD-4D56-AC3E-BC0E1B00E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09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E68D3-6370-4F8C-9A07-6756D7439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3BC0DD-9AFF-4485-BECE-BB8B6446F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6A920C-8CB7-46B7-B789-807C2012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606D-3304-4AA9-BDB2-266F25221FEB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B6CA07-043A-49D0-B6A8-7F7710391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AD4CB4-D7BC-43E8-9832-6F408B899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C98C-C6DD-4D56-AC3E-BC0E1B00E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794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8B98C-DBE8-4BF9-AC51-E3660B5D3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3B81B0-C61B-41B5-AE71-022B0D025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BC4AF3-2CFD-4C44-84F3-50AD63F0D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606D-3304-4AA9-BDB2-266F25221FEB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DDB5D6-6044-4C41-99BE-33B75E57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62F129-72B7-4ACA-A9B0-7891BB5C0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C98C-C6DD-4D56-AC3E-BC0E1B00E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62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56D2E-F65E-454D-8003-7C282380F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84D07F-624D-44FC-A609-6CB8272FDB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B5B733-B509-426E-90B6-F854B48E4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280EA4-3CDF-46D8-B980-FD9BAAB2C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606D-3304-4AA9-BDB2-266F25221FEB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749823-2401-4750-AD11-BF7B7D86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70451D-7CF8-41D2-A52E-3EA60269B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C98C-C6DD-4D56-AC3E-BC0E1B00E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69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639A0F-2125-4B04-89A3-C6B97FFE7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75664C-8FD5-4E38-9CCF-2F23F2962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491927-C8D9-45CC-AF66-647615EED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B54945-BA70-45F0-878D-EC8F7F890B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0C247D-95DB-4081-ADA8-913DD7C20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11DFB1-1F5E-45E7-9B3A-AF0F190FD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606D-3304-4AA9-BDB2-266F25221FEB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04D7F07-226B-445A-B342-56A16EC2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88C33C-88DE-46E7-BF82-34575AAFA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C98C-C6DD-4D56-AC3E-BC0E1B00E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551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658CF-886E-4453-BB10-10E8C6D9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76522D-8204-462F-BA34-428FADB27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606D-3304-4AA9-BDB2-266F25221FEB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C59272-CED8-4861-9524-B0DD087A3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ACAF33-E58F-4F87-88B2-B0386F48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C98C-C6DD-4D56-AC3E-BC0E1B00E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837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F1C2E6-EA1E-4297-8460-AB992D1A7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606D-3304-4AA9-BDB2-266F25221FEB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F93291-9F1D-479C-970E-E65AD241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0381C1-2DD4-461E-A502-3F84DF3D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C98C-C6DD-4D56-AC3E-BC0E1B00E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646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0007B-D2E4-47CD-91D7-9C488BFCF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1CB80B-21FD-493D-8E06-D5824BB9C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60783F-370B-40C6-B4A6-6A8F71E71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289030-01F1-4B2F-9F0F-32996322E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606D-3304-4AA9-BDB2-266F25221FEB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98B2EC-9C2F-4A68-8119-E42D45F8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051220-175B-47FA-AA0D-B146E1C3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C98C-C6DD-4D56-AC3E-BC0E1B00E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26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12622-2A0D-4948-9C17-A40B7B5A6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09A6430-AE03-4E48-9701-D7D231B9B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285A9F-9AD4-45FE-85D8-27F1E8FDF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62F467-DAA4-40CF-BA80-B4110066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606D-3304-4AA9-BDB2-266F25221FEB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2056D2-E254-401C-882A-82391ED4B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C9618B-1B3A-4C7E-BC12-04E26D500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C98C-C6DD-4D56-AC3E-BC0E1B00E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98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A802D-94B3-44FC-BE9B-5AAE1160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5E5B9C-06FC-423D-9858-8A1D4F541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17BC2D-04E0-4CB7-A330-CCADC2A0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606D-3304-4AA9-BDB2-266F25221FEB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996D65-CEDC-4CBC-B4E5-26AF1C89A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30C15-0B12-434D-90BE-DF1787985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C98C-C6DD-4D56-AC3E-BC0E1B00E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854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F13F590-DA88-4DC0-81D7-E75AB10C4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D2BAF3-2144-4F6D-A977-BDE104C44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911AC3-D5A0-4C35-8387-FBFBD03C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606D-3304-4AA9-BDB2-266F25221FEB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27896E-04A3-4E4F-AF53-152056194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AE200-D0E2-41DB-BD72-31DB70E4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C98C-C6DD-4D56-AC3E-BC0E1B00E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39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B43F0A-8F8D-4ECE-9599-3D24FD184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46D3E5-1652-4887-B7E0-D65B77CF8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E4A2AE-73D8-45A0-9038-0D659194E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D606D-3304-4AA9-BDB2-266F25221FEB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8A8715-865B-470F-8C0F-7931A1AB5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0042EA-5504-4850-A19F-2CFED420F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3C98C-C6DD-4D56-AC3E-BC0E1B00E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261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github.com/yangbeomseok/SST_Prediction_APP/blob/main/LightGBM_modeling.py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53C3D12-7E80-FE00-D1E7-051565AB35AC}"/>
              </a:ext>
            </a:extLst>
          </p:cNvPr>
          <p:cNvSpPr/>
          <p:nvPr/>
        </p:nvSpPr>
        <p:spPr>
          <a:xfrm>
            <a:off x="80510" y="99203"/>
            <a:ext cx="12030974" cy="6659593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>
              <a:lnSpc>
                <a:spcPct val="150000"/>
              </a:lnSpc>
              <a:buSzPts val="1400"/>
            </a:pPr>
            <a:endParaRPr lang="en-US" altLang="ko-KR" b="1" dirty="0">
              <a:latin typeface="+mj-ea"/>
              <a:ea typeface="+mj-ea"/>
            </a:endParaRPr>
          </a:p>
        </p:txBody>
      </p:sp>
      <p:pic>
        <p:nvPicPr>
          <p:cNvPr id="5" name="그림 4" descr="텍스트, 폰트, 로고, 상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94B02F1-AF76-5AD1-A02B-EF87F6C70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550" y="4265103"/>
            <a:ext cx="2711450" cy="11112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0B44E23-8237-503B-FC1B-56BFF9956076}"/>
              </a:ext>
            </a:extLst>
          </p:cNvPr>
          <p:cNvSpPr/>
          <p:nvPr/>
        </p:nvSpPr>
        <p:spPr>
          <a:xfrm>
            <a:off x="43134" y="49602"/>
            <a:ext cx="12105732" cy="6758796"/>
          </a:xfrm>
          <a:prstGeom prst="rect">
            <a:avLst/>
          </a:prstGeom>
          <a:solidFill>
            <a:schemeClr val="bg1"/>
          </a:solidFill>
          <a:ln>
            <a:solidFill>
              <a:srgbClr val="0BA1B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526CFDE-19DA-4577-3DFF-4C633213B152}"/>
              </a:ext>
            </a:extLst>
          </p:cNvPr>
          <p:cNvSpPr/>
          <p:nvPr/>
        </p:nvSpPr>
        <p:spPr>
          <a:xfrm>
            <a:off x="2193249" y="867763"/>
            <a:ext cx="7962688" cy="2699807"/>
          </a:xfrm>
          <a:prstGeom prst="roundRect">
            <a:avLst/>
          </a:prstGeom>
          <a:solidFill>
            <a:srgbClr val="0BA1BA"/>
          </a:solidFill>
          <a:ln w="285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A92BF-C29D-1130-E302-AF171DB5E38E}"/>
              </a:ext>
            </a:extLst>
          </p:cNvPr>
          <p:cNvSpPr txBox="1"/>
          <p:nvPr/>
        </p:nvSpPr>
        <p:spPr>
          <a:xfrm>
            <a:off x="2181739" y="1344488"/>
            <a:ext cx="7817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latin typeface="+mj-lt"/>
              </a:rPr>
              <a:t>Korea Ocean </a:t>
            </a:r>
            <a:r>
              <a:rPr lang="en-US" altLang="ko-KR" sz="4000" b="1" dirty="0" err="1">
                <a:latin typeface="+mj-lt"/>
              </a:rPr>
              <a:t>Statelite</a:t>
            </a:r>
            <a:r>
              <a:rPr lang="en-US" altLang="ko-KR" sz="4000" b="1" dirty="0">
                <a:latin typeface="+mj-lt"/>
              </a:rPr>
              <a:t> Center </a:t>
            </a:r>
            <a:endParaRPr lang="ko-KR" altLang="en-US" sz="4000" b="1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8886E-8BBA-370C-6146-9289AFF49B19}"/>
              </a:ext>
            </a:extLst>
          </p:cNvPr>
          <p:cNvSpPr txBox="1"/>
          <p:nvPr/>
        </p:nvSpPr>
        <p:spPr>
          <a:xfrm>
            <a:off x="2167268" y="2196443"/>
            <a:ext cx="80146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b="1" i="1" dirty="0">
                <a:latin typeface="+mj-lt"/>
              </a:rPr>
              <a:t>Research Deliverables #2</a:t>
            </a:r>
          </a:p>
          <a:p>
            <a:pPr algn="ctr"/>
            <a:r>
              <a:rPr lang="en-US" altLang="ko-KR" sz="2200" b="1" i="1" dirty="0">
                <a:latin typeface="+mj-lt"/>
              </a:rPr>
              <a:t>:</a:t>
            </a:r>
            <a:r>
              <a:rPr lang="en-US" altLang="ko-KR" sz="2200" b="1" i="1" dirty="0"/>
              <a:t>AI-based Sea Surface Temperature Prediction               for the Busan Coast using </a:t>
            </a:r>
            <a:r>
              <a:rPr lang="en-US" altLang="ko-KR" sz="2200" b="1" i="1" dirty="0" err="1"/>
              <a:t>LightGBM</a:t>
            </a:r>
            <a:endParaRPr lang="en-US" altLang="ko-KR" sz="2200" b="1" i="1" dirty="0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4F4E86-8061-F690-4AF0-15D6C75E64F3}"/>
              </a:ext>
            </a:extLst>
          </p:cNvPr>
          <p:cNvSpPr txBox="1"/>
          <p:nvPr/>
        </p:nvSpPr>
        <p:spPr>
          <a:xfrm>
            <a:off x="1607609" y="3926958"/>
            <a:ext cx="89652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lt"/>
              </a:rPr>
              <a:t>양 범 석</a:t>
            </a:r>
            <a:endParaRPr lang="en-US" altLang="ko-KR" sz="3200" b="1" dirty="0">
              <a:latin typeface="+mj-lt"/>
            </a:endParaRPr>
          </a:p>
          <a:p>
            <a:pPr algn="ctr"/>
            <a:endParaRPr lang="en-US" altLang="ko-KR" sz="1600" b="1" i="1" dirty="0">
              <a:latin typeface="+mj-lt"/>
            </a:endParaRPr>
          </a:p>
          <a:p>
            <a:pPr algn="ctr"/>
            <a:r>
              <a:rPr lang="en-US" altLang="ko-KR" b="1" i="1" dirty="0">
                <a:latin typeface="+mj-lt"/>
              </a:rPr>
              <a:t>Undergraduate Researcher &amp; Lab Leader at the AI Signal Processing Laboratory</a:t>
            </a:r>
            <a:br>
              <a:rPr lang="en-US" altLang="ko-KR" b="1" i="1" dirty="0">
                <a:latin typeface="+mj-lt"/>
              </a:rPr>
            </a:br>
            <a:r>
              <a:rPr lang="en-US" altLang="ko-KR" b="1" i="1" dirty="0">
                <a:latin typeface="+mj-lt"/>
              </a:rPr>
              <a:t>Trainee of Korea Institute of Ocean Science &amp; Technology – KOSC</a:t>
            </a:r>
          </a:p>
          <a:p>
            <a:pPr algn="ctr"/>
            <a:r>
              <a:rPr lang="en-US" altLang="ko-KR" b="1" i="1" dirty="0"/>
              <a:t>National Korea Maritime &amp; Ocean University</a:t>
            </a:r>
          </a:p>
          <a:p>
            <a:pPr algn="ctr"/>
            <a:endParaRPr lang="en-US" altLang="ko-KR" b="1" i="1" dirty="0"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598FB1-EFF4-558D-1622-9DFF0AC86AEB}"/>
              </a:ext>
            </a:extLst>
          </p:cNvPr>
          <p:cNvSpPr txBox="1"/>
          <p:nvPr/>
        </p:nvSpPr>
        <p:spPr>
          <a:xfrm>
            <a:off x="5319619" y="6351705"/>
            <a:ext cx="1541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2025. 07. 11.</a:t>
            </a:r>
            <a:endParaRPr lang="ko-KR" altLang="en-US" b="1" dirty="0"/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604EF012-F170-F520-21E8-0AB95932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779A-0CFD-45F8-A90F-211FA2D99F8B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48134D-FA6F-2AA7-55FE-18FBEF895B35}"/>
              </a:ext>
            </a:extLst>
          </p:cNvPr>
          <p:cNvSpPr txBox="1"/>
          <p:nvPr/>
        </p:nvSpPr>
        <p:spPr>
          <a:xfrm>
            <a:off x="4053840" y="5735741"/>
            <a:ext cx="438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lt"/>
              </a:rPr>
              <a:t>E-mail: yangbeomseok@kiost.ac.kr</a:t>
            </a:r>
            <a:endParaRPr lang="en-US" altLang="ko-KR" b="1" dirty="0"/>
          </a:p>
        </p:txBody>
      </p:sp>
      <p:sp>
        <p:nvSpPr>
          <p:cNvPr id="2" name="AutoShape 2" descr="한국해양과학기술원 - 나무위키">
            <a:extLst>
              <a:ext uri="{FF2B5EF4-FFF2-40B4-BE49-F238E27FC236}">
                <a16:creationId xmlns:a16="http://schemas.microsoft.com/office/drawing/2014/main" id="{2DA661E6-8F1A-4970-B857-3E82B7E00D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22193" y="330443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AutoShape 4" descr="한국해양과학기술원 - 나무위키">
            <a:extLst>
              <a:ext uri="{FF2B5EF4-FFF2-40B4-BE49-F238E27FC236}">
                <a16:creationId xmlns:a16="http://schemas.microsoft.com/office/drawing/2014/main" id="{4C59F94E-D48B-4578-BA90-EB43CFA065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30" name="Picture 6" descr="Fichier:KIOST.png — Wikipédia">
            <a:extLst>
              <a:ext uri="{FF2B5EF4-FFF2-40B4-BE49-F238E27FC236}">
                <a16:creationId xmlns:a16="http://schemas.microsoft.com/office/drawing/2014/main" id="{B953A77C-F660-42CA-A42C-3AB19264C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0696" y="96162"/>
            <a:ext cx="1426208" cy="7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4925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D904F5E-CE09-45CB-677A-69C90E8C68E5}"/>
              </a:ext>
            </a:extLst>
          </p:cNvPr>
          <p:cNvSpPr/>
          <p:nvPr/>
        </p:nvSpPr>
        <p:spPr>
          <a:xfrm>
            <a:off x="43134" y="49602"/>
            <a:ext cx="12105732" cy="6758796"/>
          </a:xfrm>
          <a:prstGeom prst="rect">
            <a:avLst/>
          </a:prstGeom>
          <a:solidFill>
            <a:schemeClr val="bg1"/>
          </a:solidFill>
          <a:ln>
            <a:solidFill>
              <a:srgbClr val="0BA1B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4BF1532-60AD-7242-5B45-4FAAC1D1E631}"/>
              </a:ext>
            </a:extLst>
          </p:cNvPr>
          <p:cNvCxnSpPr>
            <a:cxnSpLocks/>
          </p:cNvCxnSpPr>
          <p:nvPr/>
        </p:nvCxnSpPr>
        <p:spPr>
          <a:xfrm>
            <a:off x="37379" y="1667770"/>
            <a:ext cx="5144221" cy="0"/>
          </a:xfrm>
          <a:prstGeom prst="line">
            <a:avLst/>
          </a:prstGeom>
          <a:ln>
            <a:solidFill>
              <a:srgbClr val="0BA1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5AF3CCA-8EB7-1413-AFEB-52BA375B4A2E}"/>
              </a:ext>
            </a:extLst>
          </p:cNvPr>
          <p:cNvSpPr txBox="1"/>
          <p:nvPr/>
        </p:nvSpPr>
        <p:spPr>
          <a:xfrm>
            <a:off x="2406764" y="1053531"/>
            <a:ext cx="3605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/>
              <a:t>Contents</a:t>
            </a:r>
            <a:endParaRPr lang="ko-KR" altLang="en-US" sz="3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CF0F60-1EC9-888F-DAAC-29F9195AF493}"/>
              </a:ext>
            </a:extLst>
          </p:cNvPr>
          <p:cNvSpPr txBox="1"/>
          <p:nvPr/>
        </p:nvSpPr>
        <p:spPr>
          <a:xfrm>
            <a:off x="1460740" y="2081614"/>
            <a:ext cx="7441720" cy="4187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SzPts val="1400"/>
              <a:buFont typeface="Arial"/>
              <a:buChar char="•"/>
            </a:pPr>
            <a:r>
              <a:rPr lang="en-US" altLang="ko-KR" sz="2000" b="1" dirty="0">
                <a:latin typeface="+mj-ea"/>
                <a:ea typeface="+mj-ea"/>
              </a:rPr>
              <a:t>PART 1. Introduction</a:t>
            </a:r>
          </a:p>
          <a:p>
            <a:pPr marL="285750" lvl="1" indent="-285750">
              <a:lnSpc>
                <a:spcPct val="150000"/>
              </a:lnSpc>
              <a:buSzPts val="1400"/>
              <a:buFont typeface="Arial"/>
              <a:buChar char="•"/>
            </a:pPr>
            <a:endParaRPr lang="en-US" altLang="ko-KR" sz="2000" b="1" dirty="0">
              <a:latin typeface="+mj-ea"/>
              <a:ea typeface="+mj-ea"/>
            </a:endParaRPr>
          </a:p>
          <a:p>
            <a:pPr marL="285750" lvl="1" indent="-285750">
              <a:lnSpc>
                <a:spcPct val="150000"/>
              </a:lnSpc>
              <a:buSzPts val="1400"/>
              <a:buFont typeface="Arial"/>
              <a:buChar char="•"/>
            </a:pPr>
            <a:r>
              <a:rPr lang="en-US" altLang="ko-KR" sz="2000" b="1" dirty="0">
                <a:latin typeface="+mj-ea"/>
                <a:ea typeface="+mj-ea"/>
              </a:rPr>
              <a:t>PART 2. Data &amp; Methodology</a:t>
            </a:r>
          </a:p>
          <a:p>
            <a:pPr marL="285750" lvl="1" indent="-285750">
              <a:lnSpc>
                <a:spcPct val="150000"/>
              </a:lnSpc>
              <a:buSzPts val="1400"/>
              <a:buFont typeface="Arial"/>
              <a:buChar char="•"/>
            </a:pPr>
            <a:endParaRPr lang="en-US" altLang="ko-KR" sz="2000" b="1" dirty="0">
              <a:latin typeface="+mj-ea"/>
              <a:ea typeface="+mj-ea"/>
            </a:endParaRPr>
          </a:p>
          <a:p>
            <a:pPr marL="285750" lvl="1" indent="-285750">
              <a:lnSpc>
                <a:spcPct val="150000"/>
              </a:lnSpc>
              <a:buSzPts val="1400"/>
              <a:buFont typeface="Arial"/>
              <a:buChar char="•"/>
            </a:pPr>
            <a:r>
              <a:rPr lang="en-US" altLang="ko-KR" sz="2000" b="1" dirty="0">
                <a:latin typeface="+mj-ea"/>
                <a:ea typeface="+mj-ea"/>
              </a:rPr>
              <a:t>PART 3. Implementation</a:t>
            </a:r>
          </a:p>
          <a:p>
            <a:pPr marL="0" lvl="1">
              <a:lnSpc>
                <a:spcPct val="150000"/>
              </a:lnSpc>
              <a:buSzPts val="1400"/>
            </a:pPr>
            <a:endParaRPr lang="en-US" altLang="ko-KR" sz="2000" b="1" dirty="0">
              <a:latin typeface="+mj-ea"/>
              <a:ea typeface="+mj-ea"/>
            </a:endParaRPr>
          </a:p>
          <a:p>
            <a:pPr marL="285750" lvl="1" indent="-285750">
              <a:lnSpc>
                <a:spcPct val="150000"/>
              </a:lnSpc>
              <a:buSzPts val="1400"/>
              <a:buFont typeface="Arial"/>
              <a:buChar char="•"/>
            </a:pPr>
            <a:r>
              <a:rPr lang="en-US" altLang="ko-KR" sz="2000" b="1" dirty="0">
                <a:latin typeface="+mj-ea"/>
                <a:ea typeface="+mj-ea"/>
              </a:rPr>
              <a:t>PART 4. Results</a:t>
            </a:r>
            <a:r>
              <a:rPr lang="ko-KR" altLang="en-US" sz="2000" b="1" dirty="0">
                <a:latin typeface="+mj-ea"/>
                <a:ea typeface="+mj-ea"/>
              </a:rPr>
              <a:t> </a:t>
            </a:r>
            <a:r>
              <a:rPr lang="en-US" altLang="ko-KR" sz="2000" b="1" dirty="0">
                <a:latin typeface="+mj-ea"/>
                <a:ea typeface="+mj-ea"/>
              </a:rPr>
              <a:t>&amp;</a:t>
            </a:r>
            <a:r>
              <a:rPr lang="ko-KR" altLang="en-US" sz="2000" b="1" dirty="0">
                <a:latin typeface="+mj-ea"/>
                <a:ea typeface="+mj-ea"/>
              </a:rPr>
              <a:t> </a:t>
            </a:r>
            <a:r>
              <a:rPr lang="en-US" altLang="ko-KR" sz="2000" b="1" dirty="0">
                <a:latin typeface="+mj-ea"/>
                <a:ea typeface="+mj-ea"/>
              </a:rPr>
              <a:t>Analysis</a:t>
            </a:r>
          </a:p>
          <a:p>
            <a:pPr marL="0" lvl="1">
              <a:lnSpc>
                <a:spcPct val="150000"/>
              </a:lnSpc>
              <a:buSzPts val="1400"/>
            </a:pPr>
            <a:endParaRPr lang="en-US" altLang="ko-KR" sz="2000" b="1" dirty="0">
              <a:latin typeface="+mj-ea"/>
              <a:ea typeface="+mj-ea"/>
            </a:endParaRPr>
          </a:p>
          <a:p>
            <a:pPr marL="285750" lvl="1" indent="-285750">
              <a:lnSpc>
                <a:spcPct val="150000"/>
              </a:lnSpc>
              <a:buSzPts val="1400"/>
              <a:buFont typeface="Arial"/>
              <a:buChar char="•"/>
            </a:pPr>
            <a:r>
              <a:rPr lang="en-US" altLang="ko-KR" sz="2000" b="1" dirty="0">
                <a:latin typeface="+mj-ea"/>
                <a:ea typeface="+mj-ea"/>
              </a:rPr>
              <a:t>PART 5. Conclusion &amp; Future Work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F26DBA39-33DE-C515-F9E3-B6778370B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779A-0CFD-45F8-A90F-211FA2D99F8B}" type="slidenum">
              <a:rPr lang="ko-KR" altLang="en-US" smtClean="0"/>
              <a:t>2</a:t>
            </a:fld>
            <a:endParaRPr lang="ko-KR" altLang="en-US" dirty="0"/>
          </a:p>
        </p:txBody>
      </p:sp>
      <p:pic>
        <p:nvPicPr>
          <p:cNvPr id="7" name="Picture 6" descr="Fichier:KIOST.png — Wikipédia">
            <a:extLst>
              <a:ext uri="{FF2B5EF4-FFF2-40B4-BE49-F238E27FC236}">
                <a16:creationId xmlns:a16="http://schemas.microsoft.com/office/drawing/2014/main" id="{3728D718-853C-4F55-946D-06AAFC549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0696" y="96162"/>
            <a:ext cx="1426208" cy="7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65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6643-6ED3-2536-EC55-9AD28FA35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F472AA1-27D8-4C61-98FD-CE548E6C81B9}"/>
              </a:ext>
            </a:extLst>
          </p:cNvPr>
          <p:cNvSpPr/>
          <p:nvPr/>
        </p:nvSpPr>
        <p:spPr>
          <a:xfrm>
            <a:off x="43134" y="49602"/>
            <a:ext cx="12105732" cy="6758796"/>
          </a:xfrm>
          <a:prstGeom prst="rect">
            <a:avLst/>
          </a:prstGeom>
          <a:solidFill>
            <a:schemeClr val="bg1"/>
          </a:solidFill>
          <a:ln>
            <a:solidFill>
              <a:srgbClr val="0BA1B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17871EA0-3A30-F0BA-68BF-190C6669A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779A-0CFD-45F8-A90F-211FA2D99F8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6B7EA66-4470-9A3C-9A73-A0A44C1FBA99}"/>
              </a:ext>
            </a:extLst>
          </p:cNvPr>
          <p:cNvCxnSpPr>
            <a:cxnSpLocks/>
          </p:cNvCxnSpPr>
          <p:nvPr/>
        </p:nvCxnSpPr>
        <p:spPr>
          <a:xfrm>
            <a:off x="43133" y="566248"/>
            <a:ext cx="12105732" cy="0"/>
          </a:xfrm>
          <a:prstGeom prst="line">
            <a:avLst/>
          </a:prstGeom>
          <a:ln>
            <a:solidFill>
              <a:srgbClr val="0BA1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1D8F0A7-F454-0115-C087-4B06E4124315}"/>
              </a:ext>
            </a:extLst>
          </p:cNvPr>
          <p:cNvSpPr txBox="1"/>
          <p:nvPr/>
        </p:nvSpPr>
        <p:spPr>
          <a:xfrm>
            <a:off x="4174184" y="123259"/>
            <a:ext cx="3841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PART 1. 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53BD84-225A-7333-2B52-969277F7B951}"/>
              </a:ext>
            </a:extLst>
          </p:cNvPr>
          <p:cNvSpPr txBox="1"/>
          <p:nvPr/>
        </p:nvSpPr>
        <p:spPr>
          <a:xfrm>
            <a:off x="119198" y="554945"/>
            <a:ext cx="855893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SzPts val="1400"/>
              <a:buFont typeface="Wingdings" panose="05000000000000000000" pitchFamily="2" charset="2"/>
              <a:buChar char="v"/>
            </a:pPr>
            <a:r>
              <a:rPr lang="en-US" altLang="ko-KR" b="1" dirty="0"/>
              <a:t>Research </a:t>
            </a:r>
            <a:r>
              <a:rPr lang="en-US" altLang="ko-KR" b="1" dirty="0">
                <a:latin typeface="+mj-ea"/>
                <a:ea typeface="+mj-ea"/>
              </a:rPr>
              <a:t>Background &amp; 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A9A84-679D-437A-8347-F8EAE7ED671A}"/>
              </a:ext>
            </a:extLst>
          </p:cNvPr>
          <p:cNvSpPr txBox="1"/>
          <p:nvPr/>
        </p:nvSpPr>
        <p:spPr>
          <a:xfrm>
            <a:off x="408316" y="1009237"/>
            <a:ext cx="11393426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기후 변화와 해양 환경</a:t>
            </a:r>
            <a:r>
              <a:rPr lang="en-US" altLang="ko-KR" sz="1600" b="1" dirty="0"/>
              <a:t>: </a:t>
            </a:r>
            <a:r>
              <a:rPr lang="ko-KR" altLang="en-US" sz="1600" dirty="0"/>
              <a:t>최근 기후 변화로 인해 해수면 온도의 </a:t>
            </a:r>
            <a:r>
              <a:rPr lang="ko-KR" altLang="en-US" sz="1600" b="1" dirty="0"/>
              <a:t>변동성이 커지고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해양 생태계</a:t>
            </a:r>
            <a:r>
              <a:rPr lang="en-US" altLang="ko-KR" sz="1600" dirty="0"/>
              <a:t>, </a:t>
            </a:r>
            <a:r>
              <a:rPr lang="ko-KR" altLang="en-US" sz="1600" dirty="0"/>
              <a:t>어업</a:t>
            </a:r>
            <a:r>
              <a:rPr lang="en-US" altLang="ko-KR" sz="1600" dirty="0"/>
              <a:t>, </a:t>
            </a:r>
            <a:r>
              <a:rPr lang="ko-KR" altLang="en-US" sz="1600" dirty="0"/>
              <a:t>양식업 및 기상 현상에 </a:t>
            </a:r>
            <a:r>
              <a:rPr lang="ko-KR" altLang="en-US" sz="1600" b="1" dirty="0"/>
              <a:t>막대한 영향을 미치고 있음</a:t>
            </a:r>
            <a:r>
              <a:rPr lang="en-US" altLang="ko-KR" sz="1600" dirty="0"/>
              <a:t>.</a:t>
            </a:r>
          </a:p>
          <a:p>
            <a:endParaRPr lang="en-US" altLang="ko-KR" sz="5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부산 연안의 중요성</a:t>
            </a:r>
            <a:r>
              <a:rPr lang="en-US" altLang="ko-KR" sz="1600" b="1" dirty="0"/>
              <a:t>: </a:t>
            </a:r>
            <a:r>
              <a:rPr lang="ko-KR" altLang="en-US" sz="1600" dirty="0"/>
              <a:t>부산은 대한민국 </a:t>
            </a:r>
            <a:r>
              <a:rPr lang="ko-KR" altLang="en-US" sz="1600" b="1" dirty="0"/>
              <a:t>최대의 항구 도시이자 해양 수도</a:t>
            </a:r>
            <a:r>
              <a:rPr lang="ko-KR" altLang="en-US" sz="1600" dirty="0"/>
              <a:t>로서</a:t>
            </a:r>
            <a:r>
              <a:rPr lang="en-US" altLang="ko-KR" sz="1600" dirty="0"/>
              <a:t>, </a:t>
            </a:r>
            <a:r>
              <a:rPr lang="ko-KR" altLang="en-US" sz="1600" dirty="0"/>
              <a:t>연안의 해수면 온도 변화는 지역 경제 및 환경에 매우 중요한 요소임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AI </a:t>
            </a:r>
            <a:r>
              <a:rPr lang="ko-KR" altLang="en-US" sz="1600" b="1" dirty="0"/>
              <a:t>기반 예측의 필요성</a:t>
            </a:r>
            <a:r>
              <a:rPr lang="en-US" altLang="ko-KR" sz="1600" b="1" dirty="0"/>
              <a:t>: </a:t>
            </a:r>
            <a:r>
              <a:rPr lang="ko-KR" altLang="en-US" sz="1600" dirty="0"/>
              <a:t>정확한 해수면 온도 예측은 이상 수온 현상에 대한 </a:t>
            </a:r>
            <a:r>
              <a:rPr lang="ko-KR" altLang="en-US" sz="1600" b="1" dirty="0"/>
              <a:t>선제적 대응</a:t>
            </a:r>
            <a:r>
              <a:rPr lang="ko-KR" altLang="en-US" sz="1600" dirty="0"/>
              <a:t>과</a:t>
            </a:r>
            <a:r>
              <a:rPr lang="ko-KR" altLang="en-US" sz="1600" b="1" dirty="0"/>
              <a:t> </a:t>
            </a:r>
            <a:r>
              <a:rPr lang="ko-KR" altLang="en-US" sz="1600" dirty="0"/>
              <a:t>안정적인 해양 활동을 위해 필수적이며</a:t>
            </a:r>
            <a:r>
              <a:rPr lang="en-US" altLang="ko-KR" sz="1600" dirty="0"/>
              <a:t>, </a:t>
            </a:r>
            <a:r>
              <a:rPr lang="en-US" altLang="ko-KR" sz="1600" b="1" dirty="0"/>
              <a:t>AI </a:t>
            </a:r>
            <a:r>
              <a:rPr lang="ko-KR" altLang="en-US" sz="1600" b="1" dirty="0"/>
              <a:t>기술</a:t>
            </a:r>
            <a:r>
              <a:rPr lang="ko-KR" altLang="en-US" sz="1600" dirty="0"/>
              <a:t>은 복잡한 해양</a:t>
            </a:r>
            <a:r>
              <a:rPr lang="en-US" altLang="ko-KR" sz="1600" dirty="0"/>
              <a:t>-</a:t>
            </a:r>
            <a:r>
              <a:rPr lang="ko-KR" altLang="en-US" sz="1600" dirty="0"/>
              <a:t>대기 상호작용을 학습하여 예측 정확도를 높일 수 있는 강력한 도구임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7" name="AutoShape 2" descr="Schematic of satellite remote sensing process and in situ ocean color observation.">
            <a:extLst>
              <a:ext uri="{FF2B5EF4-FFF2-40B4-BE49-F238E27FC236}">
                <a16:creationId xmlns:a16="http://schemas.microsoft.com/office/drawing/2014/main" id="{0CE808BA-388F-484A-B8B1-9CB70F06A7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707160" cy="1707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8" name="Picture 6" descr="Fichier:KIOST.png — Wikipédia">
            <a:extLst>
              <a:ext uri="{FF2B5EF4-FFF2-40B4-BE49-F238E27FC236}">
                <a16:creationId xmlns:a16="http://schemas.microsoft.com/office/drawing/2014/main" id="{27E5193A-BC37-4F57-B215-E48354228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7133" y="115025"/>
            <a:ext cx="713104" cy="3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1DD54FC-9F7C-4767-86B0-C8F0D95F6810}"/>
              </a:ext>
            </a:extLst>
          </p:cNvPr>
          <p:cNvSpPr txBox="1"/>
          <p:nvPr/>
        </p:nvSpPr>
        <p:spPr>
          <a:xfrm>
            <a:off x="119198" y="4983760"/>
            <a:ext cx="855893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SzPts val="1400"/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+mj-ea"/>
                <a:ea typeface="+mj-ea"/>
              </a:rPr>
              <a:t>Objectives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E728E5-D225-49AC-85C0-0AEB4A74F531}"/>
              </a:ext>
            </a:extLst>
          </p:cNvPr>
          <p:cNvSpPr txBox="1"/>
          <p:nvPr/>
        </p:nvSpPr>
        <p:spPr>
          <a:xfrm>
            <a:off x="408316" y="5438052"/>
            <a:ext cx="1139342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ECMWF</a:t>
            </a:r>
            <a:r>
              <a:rPr lang="ko-KR" altLang="en-US" sz="1600" dirty="0"/>
              <a:t>에서 제공하는 </a:t>
            </a:r>
            <a:r>
              <a:rPr lang="en-US" altLang="ko-KR" sz="1600" b="1" dirty="0"/>
              <a:t>ERA5 </a:t>
            </a:r>
            <a:r>
              <a:rPr lang="ko-KR" altLang="en-US" sz="1600" b="1" dirty="0"/>
              <a:t>재분석 데이터</a:t>
            </a:r>
            <a:r>
              <a:rPr lang="ko-KR" altLang="en-US" sz="1600" dirty="0"/>
              <a:t>를</a:t>
            </a:r>
            <a:r>
              <a:rPr lang="ko-KR" altLang="en-US" sz="1600" b="1" dirty="0"/>
              <a:t> </a:t>
            </a:r>
            <a:r>
              <a:rPr lang="ko-KR" altLang="en-US" sz="1600" dirty="0"/>
              <a:t>활용하여 부산 연안의 </a:t>
            </a:r>
            <a:r>
              <a:rPr lang="ko-KR" altLang="en-US" sz="1600" b="1" dirty="0"/>
              <a:t>시계열 기상 데이터셋 </a:t>
            </a:r>
            <a:r>
              <a:rPr lang="ko-KR" altLang="en-US" sz="1600" dirty="0"/>
              <a:t>구축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err="1"/>
              <a:t>머신러닝</a:t>
            </a:r>
            <a:r>
              <a:rPr lang="ko-KR" altLang="en-US" sz="1600" dirty="0"/>
              <a:t> 모델 </a:t>
            </a:r>
            <a:r>
              <a:rPr lang="en-US" altLang="ko-KR" sz="1600" b="1" dirty="0" err="1"/>
              <a:t>LightGBM</a:t>
            </a:r>
            <a:r>
              <a:rPr lang="ko-KR" altLang="en-US" sz="1600" dirty="0"/>
              <a:t>을 사용하여 </a:t>
            </a:r>
            <a:r>
              <a:rPr lang="en-US" altLang="ko-KR" sz="1600" dirty="0"/>
              <a:t>6</a:t>
            </a:r>
            <a:r>
              <a:rPr lang="ko-KR" altLang="en-US" sz="1600" dirty="0"/>
              <a:t>시간 후의 해수면 온도를 예측하는 </a:t>
            </a:r>
            <a:r>
              <a:rPr lang="ko-KR" altLang="en-US" sz="1600" b="1" dirty="0"/>
              <a:t>모델 개발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개발된 모델의 성능을 </a:t>
            </a:r>
            <a:r>
              <a:rPr lang="ko-KR" altLang="en-US" sz="1600" b="1" dirty="0"/>
              <a:t>정량적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정성적으로 평가</a:t>
            </a:r>
            <a:r>
              <a:rPr lang="ko-KR" altLang="en-US" sz="1600" dirty="0"/>
              <a:t>하고</a:t>
            </a:r>
            <a:r>
              <a:rPr lang="en-US" altLang="ko-KR" sz="1600" dirty="0"/>
              <a:t>, </a:t>
            </a:r>
            <a:r>
              <a:rPr lang="ko-KR" altLang="en-US" sz="1600" dirty="0"/>
              <a:t>예측에 영향을 미치는 </a:t>
            </a:r>
            <a:r>
              <a:rPr lang="ko-KR" altLang="en-US" sz="1600" b="1" dirty="0"/>
              <a:t>주요 요인 분석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8263D31-4ACF-475F-BB9B-B80C2E4B77E1}"/>
              </a:ext>
            </a:extLst>
          </p:cNvPr>
          <p:cNvGrpSpPr/>
          <p:nvPr/>
        </p:nvGrpSpPr>
        <p:grpSpPr>
          <a:xfrm>
            <a:off x="1970390" y="2725548"/>
            <a:ext cx="8251219" cy="2570462"/>
            <a:chOff x="1933661" y="2632213"/>
            <a:chExt cx="8251219" cy="25704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6FFF542-B014-4A43-AA07-424B3CCE5949}"/>
                </a:ext>
              </a:extLst>
            </p:cNvPr>
            <p:cNvSpPr txBox="1"/>
            <p:nvPr/>
          </p:nvSpPr>
          <p:spPr>
            <a:xfrm>
              <a:off x="1933661" y="4674795"/>
              <a:ext cx="34143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&lt;10</a:t>
              </a:r>
              <a:r>
                <a:rPr lang="ko-KR" altLang="en-US" sz="1400" b="1" dirty="0"/>
                <a:t>년 단위 해수면 온도 변화량</a:t>
              </a:r>
              <a:r>
                <a:rPr lang="en-US" altLang="ko-KR" sz="1400" b="1" dirty="0"/>
                <a:t>&gt;</a:t>
              </a:r>
              <a:endParaRPr lang="ko-KR" altLang="en-US" sz="1400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ECC1392-2ECD-485B-8F31-18BC1CDBFE1C}"/>
                </a:ext>
              </a:extLst>
            </p:cNvPr>
            <p:cNvSpPr txBox="1"/>
            <p:nvPr/>
          </p:nvSpPr>
          <p:spPr>
            <a:xfrm>
              <a:off x="5483791" y="4679455"/>
              <a:ext cx="4701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&lt;</a:t>
              </a:r>
              <a:r>
                <a:rPr lang="ko-KR" altLang="en-US" sz="1400" b="1" dirty="0"/>
                <a:t>최근 </a:t>
              </a:r>
              <a:r>
                <a:rPr lang="en-US" altLang="ko-KR" sz="1400" b="1" dirty="0"/>
                <a:t>10</a:t>
              </a:r>
              <a:r>
                <a:rPr lang="ko-KR" altLang="en-US" sz="1400" b="1" dirty="0"/>
                <a:t>년 대비 </a:t>
              </a:r>
              <a:r>
                <a:rPr lang="en-US" altLang="ko-KR" sz="1400" b="1" dirty="0"/>
                <a:t>2091~2100</a:t>
              </a:r>
              <a:r>
                <a:rPr lang="ko-KR" altLang="en-US" sz="1400" b="1" dirty="0"/>
                <a:t>년 해수면 온도 변화 분포</a:t>
              </a:r>
              <a:r>
                <a:rPr lang="en-US" altLang="ko-KR" sz="1400" b="1" dirty="0"/>
                <a:t>&gt;</a:t>
              </a:r>
            </a:p>
            <a:p>
              <a:pPr algn="ctr"/>
              <a:r>
                <a:rPr lang="en-US" altLang="ko-KR" sz="1400" b="1" dirty="0"/>
                <a:t>(SSP1-2.6(</a:t>
              </a:r>
              <a:r>
                <a:rPr lang="ko-KR" altLang="en-US" sz="1400" b="1" dirty="0"/>
                <a:t>좌</a:t>
              </a:r>
              <a:r>
                <a:rPr lang="en-US" altLang="ko-KR" sz="1400" b="1" dirty="0"/>
                <a:t>), SSP5-8.5(</a:t>
              </a:r>
              <a:r>
                <a:rPr lang="ko-KR" altLang="en-US" sz="1400" b="1" dirty="0"/>
                <a:t>우</a:t>
              </a:r>
              <a:r>
                <a:rPr lang="en-US" altLang="ko-KR" sz="1400" b="1" dirty="0"/>
                <a:t>))</a:t>
              </a:r>
              <a:endParaRPr lang="ko-KR" altLang="en-US" sz="1400" b="1" dirty="0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3CF1D8C-E17F-4FA2-B2EE-F4F43C92130F}"/>
                </a:ext>
              </a:extLst>
            </p:cNvPr>
            <p:cNvGrpSpPr/>
            <p:nvPr/>
          </p:nvGrpSpPr>
          <p:grpSpPr>
            <a:xfrm>
              <a:off x="2005075" y="2632213"/>
              <a:ext cx="8179805" cy="2085097"/>
              <a:chOff x="2186512" y="2614360"/>
              <a:chExt cx="8179805" cy="2085097"/>
            </a:xfrm>
          </p:grpSpPr>
          <p:pic>
            <p:nvPicPr>
              <p:cNvPr id="1029" name="Picture 5" descr="한반도 주변 해역 해수면 온도 변화(단위: 도). 기상청 자료 갈무리">
                <a:extLst>
                  <a:ext uri="{FF2B5EF4-FFF2-40B4-BE49-F238E27FC236}">
                    <a16:creationId xmlns:a16="http://schemas.microsoft.com/office/drawing/2014/main" id="{FE29AE5F-34BB-4E81-B43B-6B77D41CEC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1405" b="17876"/>
              <a:stretch/>
            </p:blipFill>
            <p:spPr bwMode="auto">
              <a:xfrm>
                <a:off x="2186512" y="2637674"/>
                <a:ext cx="2967771" cy="20617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1" name="Picture 7" descr="한반도 주변 해역 해수면 온도 변화(단위: 도). 기상청 자료 갈무리">
                <a:extLst>
                  <a:ext uri="{FF2B5EF4-FFF2-40B4-BE49-F238E27FC236}">
                    <a16:creationId xmlns:a16="http://schemas.microsoft.com/office/drawing/2014/main" id="{E4B15E0E-6D5F-403B-8971-98C565705C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738" b="17744"/>
              <a:stretch/>
            </p:blipFill>
            <p:spPr bwMode="auto">
              <a:xfrm>
                <a:off x="5665228" y="2614360"/>
                <a:ext cx="4701089" cy="19123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CFF45D8-E983-44DB-9887-B62341A6CC4A}"/>
              </a:ext>
            </a:extLst>
          </p:cNvPr>
          <p:cNvSpPr txBox="1"/>
          <p:nvPr/>
        </p:nvSpPr>
        <p:spPr>
          <a:xfrm>
            <a:off x="43133" y="6585255"/>
            <a:ext cx="126532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i="1" dirty="0">
                <a:latin typeface="+mj-lt"/>
              </a:rPr>
              <a:t>Reference 1) ‘</a:t>
            </a:r>
            <a:r>
              <a:rPr lang="ko-KR" altLang="en-US" sz="800" i="1" dirty="0">
                <a:latin typeface="+mj-lt"/>
              </a:rPr>
              <a:t>화석연료 계속 쓰면</a:t>
            </a:r>
            <a:r>
              <a:rPr lang="en-US" altLang="ko-KR" sz="800" i="1" dirty="0">
                <a:latin typeface="+mj-lt"/>
              </a:rPr>
              <a:t>… 2100</a:t>
            </a:r>
            <a:r>
              <a:rPr lang="ko-KR" altLang="en-US" sz="800" i="1" dirty="0">
                <a:latin typeface="+mj-lt"/>
              </a:rPr>
              <a:t>년 한반도 연간 </a:t>
            </a:r>
            <a:r>
              <a:rPr lang="en-US" altLang="ko-KR" sz="800" i="1" dirty="0">
                <a:latin typeface="+mj-lt"/>
              </a:rPr>
              <a:t>296</a:t>
            </a:r>
            <a:r>
              <a:rPr lang="ko-KR" altLang="en-US" sz="800" i="1" dirty="0">
                <a:latin typeface="+mj-lt"/>
              </a:rPr>
              <a:t>일 </a:t>
            </a:r>
            <a:r>
              <a:rPr lang="en-US" altLang="ko-KR" sz="800" i="1" dirty="0">
                <a:latin typeface="+mj-lt"/>
              </a:rPr>
              <a:t>‘</a:t>
            </a:r>
            <a:r>
              <a:rPr lang="ko-KR" altLang="en-US" sz="800" i="1" dirty="0">
                <a:latin typeface="+mj-lt"/>
              </a:rPr>
              <a:t>바다 폭염</a:t>
            </a:r>
            <a:r>
              <a:rPr lang="en-US" altLang="ko-KR" sz="800" i="1" dirty="0">
                <a:latin typeface="+mj-lt"/>
              </a:rPr>
              <a:t>‘’, 2024.12.26., https://www.hani.co.kr/arti/society/environment/1174961.html</a:t>
            </a:r>
          </a:p>
        </p:txBody>
      </p:sp>
    </p:spTree>
    <p:extLst>
      <p:ext uri="{BB962C8B-B14F-4D97-AF65-F5344CB8AC3E}">
        <p14:creationId xmlns:p14="http://schemas.microsoft.com/office/powerpoint/2010/main" val="2111030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EC9E3C-5B1C-40B6-9701-CC7FC7739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9" name="내용 개체 틀 18">
            <a:extLst>
              <a:ext uri="{FF2B5EF4-FFF2-40B4-BE49-F238E27FC236}">
                <a16:creationId xmlns:a16="http://schemas.microsoft.com/office/drawing/2014/main" id="{A55FCCC7-C382-4CB7-9A57-E39A78C22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686C4C5-BFB0-4262-B9ED-54F47820FE6B}"/>
              </a:ext>
            </a:extLst>
          </p:cNvPr>
          <p:cNvSpPr/>
          <p:nvPr/>
        </p:nvSpPr>
        <p:spPr>
          <a:xfrm>
            <a:off x="43134" y="49602"/>
            <a:ext cx="12105732" cy="6758796"/>
          </a:xfrm>
          <a:prstGeom prst="rect">
            <a:avLst/>
          </a:prstGeom>
          <a:solidFill>
            <a:schemeClr val="bg1"/>
          </a:solidFill>
          <a:ln>
            <a:solidFill>
              <a:srgbClr val="0BA1B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14">
            <a:extLst>
              <a:ext uri="{FF2B5EF4-FFF2-40B4-BE49-F238E27FC236}">
                <a16:creationId xmlns:a16="http://schemas.microsoft.com/office/drawing/2014/main" id="{48029369-2EB4-42B4-BEEA-8A28838EC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088779A-0CFD-45F8-A90F-211FA2D99F8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A95687-2A89-46D2-9854-CCAE56C35792}"/>
              </a:ext>
            </a:extLst>
          </p:cNvPr>
          <p:cNvCxnSpPr>
            <a:cxnSpLocks/>
          </p:cNvCxnSpPr>
          <p:nvPr/>
        </p:nvCxnSpPr>
        <p:spPr>
          <a:xfrm>
            <a:off x="43133" y="566248"/>
            <a:ext cx="12105732" cy="0"/>
          </a:xfrm>
          <a:prstGeom prst="line">
            <a:avLst/>
          </a:prstGeom>
          <a:ln>
            <a:solidFill>
              <a:srgbClr val="0BA1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1AA9CDD-9BA8-41D0-835C-5E8AFCD48DDC}"/>
              </a:ext>
            </a:extLst>
          </p:cNvPr>
          <p:cNvSpPr txBox="1"/>
          <p:nvPr/>
        </p:nvSpPr>
        <p:spPr>
          <a:xfrm>
            <a:off x="4174184" y="123259"/>
            <a:ext cx="3841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PART 2. Data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&amp;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224CE3-6987-4944-B9FB-7D1B79246B16}"/>
              </a:ext>
            </a:extLst>
          </p:cNvPr>
          <p:cNvSpPr txBox="1"/>
          <p:nvPr/>
        </p:nvSpPr>
        <p:spPr>
          <a:xfrm>
            <a:off x="119198" y="554945"/>
            <a:ext cx="855893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SzPts val="1400"/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+mj-ea"/>
              </a:rPr>
              <a:t>Data</a:t>
            </a:r>
            <a:r>
              <a:rPr lang="ko-KR" altLang="en-US" b="1" dirty="0">
                <a:latin typeface="+mj-ea"/>
              </a:rPr>
              <a:t> </a:t>
            </a:r>
            <a:r>
              <a:rPr lang="en-US" altLang="ko-KR" b="1" dirty="0">
                <a:latin typeface="+mj-ea"/>
              </a:rPr>
              <a:t>Acquisition</a:t>
            </a:r>
            <a:r>
              <a:rPr lang="ko-KR" altLang="en-US" b="1" dirty="0">
                <a:latin typeface="+mj-ea"/>
              </a:rPr>
              <a:t> </a:t>
            </a:r>
            <a:r>
              <a:rPr lang="en-US" altLang="ko-KR" b="1" dirty="0">
                <a:latin typeface="+mj-ea"/>
              </a:rPr>
              <a:t>&amp;</a:t>
            </a:r>
            <a:r>
              <a:rPr lang="ko-KR" altLang="en-US" b="1" dirty="0">
                <a:latin typeface="+mj-ea"/>
              </a:rPr>
              <a:t> </a:t>
            </a:r>
            <a:r>
              <a:rPr lang="en-US" altLang="ko-KR" b="1" dirty="0">
                <a:latin typeface="+mj-ea"/>
              </a:rPr>
              <a:t>Preprocessing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9CCC2-073E-45C8-A791-8C02F7E662DC}"/>
              </a:ext>
            </a:extLst>
          </p:cNvPr>
          <p:cNvSpPr txBox="1"/>
          <p:nvPr/>
        </p:nvSpPr>
        <p:spPr>
          <a:xfrm>
            <a:off x="3579152" y="973025"/>
            <a:ext cx="11393426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Data Source: </a:t>
            </a:r>
            <a:r>
              <a:rPr lang="en-US" altLang="ko-KR" sz="1600" dirty="0"/>
              <a:t>ECMWF ERA5 Reanalysis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Spatial Scope: </a:t>
            </a:r>
            <a:r>
              <a:rPr lang="en-US" altLang="ko-KR" sz="1600" dirty="0"/>
              <a:t>Busan Coast (Lat: 34.8°~35.4°, Long: 128.8°~129.4°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Temporal Scope: </a:t>
            </a:r>
            <a:r>
              <a:rPr lang="en-US" altLang="ko-KR" sz="1600" dirty="0"/>
              <a:t>2019 1</a:t>
            </a:r>
            <a:r>
              <a:rPr lang="ko-KR" altLang="en-US" sz="1600" dirty="0"/>
              <a:t>월 </a:t>
            </a:r>
            <a:r>
              <a:rPr lang="en-US" altLang="ko-KR" sz="1600" dirty="0"/>
              <a:t>1</a:t>
            </a:r>
            <a:r>
              <a:rPr lang="ko-KR" altLang="en-US" sz="1600" dirty="0"/>
              <a:t>일 </a:t>
            </a:r>
            <a:r>
              <a:rPr lang="en-US" altLang="ko-KR" sz="1600" dirty="0"/>
              <a:t>~ 2024</a:t>
            </a:r>
            <a:r>
              <a:rPr lang="ko-KR" altLang="en-US" sz="1600" dirty="0"/>
              <a:t>년 </a:t>
            </a:r>
            <a:r>
              <a:rPr lang="en-US" altLang="ko-KR" sz="1600" dirty="0"/>
              <a:t>12</a:t>
            </a:r>
            <a:r>
              <a:rPr lang="ko-KR" altLang="en-US" sz="1600" dirty="0"/>
              <a:t>월 </a:t>
            </a:r>
            <a:r>
              <a:rPr lang="en-US" altLang="ko-KR" sz="1600" dirty="0"/>
              <a:t>31</a:t>
            </a:r>
            <a:r>
              <a:rPr lang="ko-KR" altLang="en-US" sz="1600" dirty="0"/>
              <a:t>일 </a:t>
            </a:r>
            <a:r>
              <a:rPr lang="en-US" altLang="ko-KR" sz="1600" dirty="0"/>
              <a:t>(6</a:t>
            </a:r>
            <a:r>
              <a:rPr lang="ko-KR" altLang="en-US" sz="1600" dirty="0"/>
              <a:t>시간 간격</a:t>
            </a:r>
            <a:r>
              <a:rPr lang="en-US" altLang="ko-KR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Variables:  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D82A73-6EFE-49CF-8FAF-5BFDA56ACB39}"/>
              </a:ext>
            </a:extLst>
          </p:cNvPr>
          <p:cNvSpPr txBox="1"/>
          <p:nvPr/>
        </p:nvSpPr>
        <p:spPr>
          <a:xfrm>
            <a:off x="3927554" y="2132660"/>
            <a:ext cx="1089509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600" b="1" dirty="0"/>
              <a:t>Target: </a:t>
            </a:r>
            <a:r>
              <a:rPr lang="en-US" altLang="ko-KR" sz="1600" dirty="0"/>
              <a:t>Sea</a:t>
            </a:r>
            <a:r>
              <a:rPr lang="ko-KR" altLang="en-US" sz="1600" dirty="0"/>
              <a:t> </a:t>
            </a:r>
            <a:r>
              <a:rPr lang="en-US" altLang="ko-KR" sz="1600" dirty="0"/>
              <a:t>Surface Temperature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600" b="1" dirty="0"/>
              <a:t>Features: </a:t>
            </a:r>
            <a:r>
              <a:rPr lang="en-US" altLang="ko-KR" sz="1600" dirty="0"/>
              <a:t>2m Temperature, 10m Wind (</a:t>
            </a:r>
            <a:r>
              <a:rPr lang="en-US" altLang="ko-KR" sz="1600" dirty="0" err="1"/>
              <a:t>u,v</a:t>
            </a:r>
            <a:r>
              <a:rPr lang="en-US" altLang="ko-KR" sz="1600" dirty="0"/>
              <a:t>), Mean Sea Level Pressure, </a:t>
            </a:r>
          </a:p>
          <a:p>
            <a:r>
              <a:rPr lang="en-US" altLang="ko-KR" sz="1600" dirty="0"/>
              <a:t>                 Downward Short-wave Radiation Flux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63F1D9-6EE2-4AE0-BC1F-C0F1EF6ADF7B}"/>
              </a:ext>
            </a:extLst>
          </p:cNvPr>
          <p:cNvSpPr txBox="1"/>
          <p:nvPr/>
        </p:nvSpPr>
        <p:spPr>
          <a:xfrm>
            <a:off x="3609250" y="2938726"/>
            <a:ext cx="1139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Preprocessing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94AC6C-3D45-4810-A535-294B4994EC8B}"/>
              </a:ext>
            </a:extLst>
          </p:cNvPr>
          <p:cNvSpPr txBox="1"/>
          <p:nvPr/>
        </p:nvSpPr>
        <p:spPr>
          <a:xfrm>
            <a:off x="3927553" y="3283681"/>
            <a:ext cx="10895091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/>
              <a:t>연도</a:t>
            </a:r>
            <a:r>
              <a:rPr lang="en-US" altLang="ko-KR" sz="1600" dirty="0"/>
              <a:t>, </a:t>
            </a:r>
            <a:r>
              <a:rPr lang="ko-KR" altLang="en-US" sz="1600" dirty="0"/>
              <a:t>변수별로 나뉜 </a:t>
            </a:r>
            <a:r>
              <a:rPr lang="en-US" altLang="ko-KR" sz="1600" dirty="0" err="1"/>
              <a:t>NetCDF</a:t>
            </a:r>
            <a:r>
              <a:rPr lang="en-US" altLang="ko-KR" sz="1600" dirty="0"/>
              <a:t> </a:t>
            </a:r>
            <a:r>
              <a:rPr lang="ko-KR" altLang="en-US" sz="1600" dirty="0"/>
              <a:t>파일들을 </a:t>
            </a:r>
            <a:r>
              <a:rPr lang="ko-KR" altLang="en-US" sz="1600" b="1" dirty="0"/>
              <a:t>하나의 시계열 데이터프레임으로 통합</a:t>
            </a:r>
            <a:endParaRPr lang="en-US" altLang="ko-KR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5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/>
              <a:t>온도 단위 변환 </a:t>
            </a:r>
            <a:r>
              <a:rPr lang="en-US" altLang="ko-KR" sz="1600" dirty="0"/>
              <a:t>(Kelvin </a:t>
            </a:r>
            <a:r>
              <a:rPr lang="ko-KR" altLang="en-US" sz="1600" dirty="0"/>
              <a:t>→ </a:t>
            </a:r>
            <a:r>
              <a:rPr lang="en-US" altLang="ko-KR" sz="1600" dirty="0" err="1"/>
              <a:t>Celcius</a:t>
            </a:r>
            <a:r>
              <a:rPr lang="en-US" altLang="ko-KR" sz="16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AC9B04-EF63-40DB-9AB3-25F15D344941}"/>
              </a:ext>
            </a:extLst>
          </p:cNvPr>
          <p:cNvSpPr txBox="1"/>
          <p:nvPr/>
        </p:nvSpPr>
        <p:spPr>
          <a:xfrm>
            <a:off x="119198" y="3949150"/>
            <a:ext cx="855893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SzPts val="1400"/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+mj-ea"/>
              </a:rPr>
              <a:t>Feature Engineering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20381E-AEB8-4C2D-ACFE-4076E16EF2D8}"/>
              </a:ext>
            </a:extLst>
          </p:cNvPr>
          <p:cNvSpPr txBox="1"/>
          <p:nvPr/>
        </p:nvSpPr>
        <p:spPr>
          <a:xfrm>
            <a:off x="398265" y="4397582"/>
            <a:ext cx="11393426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목표</a:t>
            </a:r>
            <a:r>
              <a:rPr lang="en-US" altLang="ko-KR" sz="1600" b="1" dirty="0"/>
              <a:t>: </a:t>
            </a:r>
            <a:r>
              <a:rPr lang="ko-KR" altLang="en-US" sz="1600" dirty="0"/>
              <a:t>모델이 과거의 패턴을 학습할 수 있도록 </a:t>
            </a:r>
            <a:r>
              <a:rPr lang="en-US" altLang="ko-KR" sz="1600" b="1" dirty="0"/>
              <a:t>‘</a:t>
            </a:r>
            <a:r>
              <a:rPr lang="ko-KR" altLang="en-US" sz="1600" b="1" dirty="0"/>
              <a:t>힌트</a:t>
            </a:r>
            <a:r>
              <a:rPr lang="en-US" altLang="ko-KR" sz="1600" b="1" dirty="0"/>
              <a:t>’</a:t>
            </a:r>
            <a:r>
              <a:rPr lang="ko-KR" altLang="en-US" sz="1600" b="1" dirty="0"/>
              <a:t>가 되는 새로운 변수 생성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생성된 주요 특성</a:t>
            </a:r>
            <a:r>
              <a:rPr lang="en-US" altLang="ko-KR" sz="1600" b="1" dirty="0"/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FAE3C7-C75B-428B-89CB-DAF089B1AA57}"/>
              </a:ext>
            </a:extLst>
          </p:cNvPr>
          <p:cNvSpPr txBox="1"/>
          <p:nvPr/>
        </p:nvSpPr>
        <p:spPr>
          <a:xfrm>
            <a:off x="756718" y="5037975"/>
            <a:ext cx="1089509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b="1" dirty="0"/>
              <a:t>시차 특성</a:t>
            </a:r>
            <a:r>
              <a:rPr lang="en-US" altLang="ko-KR" sz="1600" b="1" dirty="0"/>
              <a:t>(Lag Features): </a:t>
            </a:r>
            <a:r>
              <a:rPr lang="ko-KR" altLang="en-US" sz="1600" dirty="0"/>
              <a:t>과거 </a:t>
            </a:r>
            <a:r>
              <a:rPr lang="en-US" altLang="ko-KR" sz="1600" dirty="0"/>
              <a:t>n</a:t>
            </a:r>
            <a:r>
              <a:rPr lang="ko-KR" altLang="en-US" sz="1600" dirty="0"/>
              <a:t>일 전의 주요 변수</a:t>
            </a:r>
            <a:r>
              <a:rPr lang="en-US" altLang="ko-KR" sz="1600" dirty="0"/>
              <a:t>(SST, </a:t>
            </a:r>
            <a:r>
              <a:rPr lang="ko-KR" altLang="en-US" sz="1600" dirty="0"/>
              <a:t>기온</a:t>
            </a:r>
            <a:r>
              <a:rPr lang="en-US" altLang="ko-KR" sz="1600" dirty="0"/>
              <a:t>, </a:t>
            </a:r>
            <a:r>
              <a:rPr lang="ko-KR" altLang="en-US" sz="1600" dirty="0"/>
              <a:t>풍속 등</a:t>
            </a:r>
            <a:r>
              <a:rPr lang="en-US" altLang="ko-KR" sz="1600" dirty="0"/>
              <a:t>) </a:t>
            </a:r>
            <a:r>
              <a:rPr lang="ko-KR" altLang="en-US" sz="1600" dirty="0"/>
              <a:t>값을 현재의 입력 데이터로 활용             </a:t>
            </a:r>
            <a:r>
              <a:rPr lang="en-US" altLang="ko-KR" sz="1600" i="1" dirty="0"/>
              <a:t>(e.g., sst_lag_1, t2m_lag_7)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500" i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b="1" dirty="0"/>
              <a:t>파생 변수</a:t>
            </a:r>
            <a:r>
              <a:rPr lang="en-US" altLang="ko-KR" sz="1600" b="1" dirty="0"/>
              <a:t>: </a:t>
            </a:r>
            <a:r>
              <a:rPr lang="en-US" altLang="ko-KR" sz="1600" dirty="0"/>
              <a:t>u, v</a:t>
            </a:r>
            <a:r>
              <a:rPr lang="ko-KR" altLang="en-US" sz="1600" dirty="0"/>
              <a:t> 풍속 성분을 이용하여 </a:t>
            </a:r>
            <a:r>
              <a:rPr lang="en-US" altLang="ko-KR" sz="1600" dirty="0"/>
              <a:t>‘</a:t>
            </a:r>
            <a:r>
              <a:rPr lang="ko-KR" altLang="en-US" sz="1600" dirty="0"/>
              <a:t>풍속</a:t>
            </a:r>
            <a:r>
              <a:rPr lang="en-US" altLang="ko-KR" sz="1600" dirty="0"/>
              <a:t>(</a:t>
            </a:r>
            <a:r>
              <a:rPr lang="en-US" altLang="ko-KR" sz="1600" dirty="0" err="1"/>
              <a:t>wind_speed</a:t>
            </a:r>
            <a:r>
              <a:rPr lang="en-US" altLang="ko-KR" sz="1600" dirty="0"/>
              <a:t>)’ </a:t>
            </a:r>
            <a:r>
              <a:rPr lang="ko-KR" altLang="en-US" sz="1600" dirty="0"/>
              <a:t>계산</a:t>
            </a:r>
            <a:endParaRPr lang="en-US" altLang="ko-KR" sz="1600" dirty="0"/>
          </a:p>
        </p:txBody>
      </p:sp>
      <p:sp>
        <p:nvSpPr>
          <p:cNvPr id="16" name="AutoShape 2" descr="https://cds.climate.copernicus.eu/thumbnails/JaABbrZjt5iZG1MVCZFaW4gsA4E=/360x0/filters:format(webp)/object-store.os-api.cci2.ecmwf.int/cci2-prod-catalogue/resources/reanalysis-era5-single-levels/overview-detail_d2d128d66670fd68c467a008450654b2030747dba36dfa116bf69461747cc14a.png">
            <a:extLst>
              <a:ext uri="{FF2B5EF4-FFF2-40B4-BE49-F238E27FC236}">
                <a16:creationId xmlns:a16="http://schemas.microsoft.com/office/drawing/2014/main" id="{289F9DA6-8636-44E6-91EF-CB6E8EC6D5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" name="AutoShape 4" descr="https://cds.climate.copernicus.eu/thumbnails/JaABbrZjt5iZG1MVCZFaW4gsA4E=/360x0/filters:format(webp)/object-store.os-api.cci2.ecmwf.int/cci2-prod-catalogue/resources/reanalysis-era5-single-levels/overview-detail_d2d128d66670fd68c467a008450654b2030747dba36dfa116bf69461747cc14a.png">
            <a:extLst>
              <a:ext uri="{FF2B5EF4-FFF2-40B4-BE49-F238E27FC236}">
                <a16:creationId xmlns:a16="http://schemas.microsoft.com/office/drawing/2014/main" id="{7FE87A81-6FA9-4D83-9A08-6C866ED6D3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1EB7ACD-9B82-4190-A79A-2F0B9F115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80" y="1029887"/>
            <a:ext cx="2921856" cy="292185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E4266F8-A703-4287-8A87-F7F84FEEF68C}"/>
              </a:ext>
            </a:extLst>
          </p:cNvPr>
          <p:cNvSpPr txBox="1"/>
          <p:nvPr/>
        </p:nvSpPr>
        <p:spPr>
          <a:xfrm>
            <a:off x="43133" y="6585255"/>
            <a:ext cx="126532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i="1" dirty="0">
                <a:latin typeface="+mj-lt"/>
              </a:rPr>
              <a:t>Reference 2) ‘Era5 hourly data on single levels from 1940 to present’, 2018.06.14., https://cds.climate.copernicus.eu/datasets/reanalysis-era5-single-levels?tab=overview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BC5388-51EC-461D-B879-6FFACEC90488}"/>
              </a:ext>
            </a:extLst>
          </p:cNvPr>
          <p:cNvSpPr txBox="1"/>
          <p:nvPr/>
        </p:nvSpPr>
        <p:spPr>
          <a:xfrm>
            <a:off x="956476" y="6096308"/>
            <a:ext cx="102770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i="1" dirty="0"/>
              <a:t>본 과정을 거쳐 부산 연안 해수면 온도 예측 모델 학습에 필요한 고품질 데이터를 성공적으로 확보하였음</a:t>
            </a:r>
            <a:r>
              <a:rPr lang="en-US" altLang="ko-KR" sz="1600" b="1" i="1" dirty="0"/>
              <a:t>.</a:t>
            </a:r>
            <a:endParaRPr lang="ko-KR" altLang="en-US" sz="1600" b="1" i="1" dirty="0"/>
          </a:p>
        </p:txBody>
      </p:sp>
      <p:pic>
        <p:nvPicPr>
          <p:cNvPr id="24" name="Picture 6" descr="Fichier:KIOST.png — Wikipédia">
            <a:extLst>
              <a:ext uri="{FF2B5EF4-FFF2-40B4-BE49-F238E27FC236}">
                <a16:creationId xmlns:a16="http://schemas.microsoft.com/office/drawing/2014/main" id="{CC4CA864-DB63-4FDE-AB46-52C9DA3B4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7133" y="115025"/>
            <a:ext cx="713104" cy="3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424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0E3CE-A713-488E-BA56-A415172C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E3103-0C0F-4EC0-B150-55ABA0F9E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A7701A-CCDD-4678-8E90-B2B762C27DD4}"/>
              </a:ext>
            </a:extLst>
          </p:cNvPr>
          <p:cNvSpPr/>
          <p:nvPr/>
        </p:nvSpPr>
        <p:spPr>
          <a:xfrm>
            <a:off x="43134" y="49602"/>
            <a:ext cx="12105732" cy="6758796"/>
          </a:xfrm>
          <a:prstGeom prst="rect">
            <a:avLst/>
          </a:prstGeom>
          <a:solidFill>
            <a:schemeClr val="bg1"/>
          </a:solidFill>
          <a:ln>
            <a:solidFill>
              <a:srgbClr val="0BA1B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14">
            <a:extLst>
              <a:ext uri="{FF2B5EF4-FFF2-40B4-BE49-F238E27FC236}">
                <a16:creationId xmlns:a16="http://schemas.microsoft.com/office/drawing/2014/main" id="{0E89B453-771C-42D3-9BED-CA1E0AAF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088779A-0CFD-45F8-A90F-211FA2D99F8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A95B5B1-562D-4AC6-8979-05539BD53741}"/>
              </a:ext>
            </a:extLst>
          </p:cNvPr>
          <p:cNvCxnSpPr>
            <a:cxnSpLocks/>
          </p:cNvCxnSpPr>
          <p:nvPr/>
        </p:nvCxnSpPr>
        <p:spPr>
          <a:xfrm>
            <a:off x="43133" y="566248"/>
            <a:ext cx="12105732" cy="0"/>
          </a:xfrm>
          <a:prstGeom prst="line">
            <a:avLst/>
          </a:prstGeom>
          <a:ln>
            <a:solidFill>
              <a:srgbClr val="0BA1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EF85F16-90F0-443F-8F4E-82253AA8C7B3}"/>
              </a:ext>
            </a:extLst>
          </p:cNvPr>
          <p:cNvSpPr txBox="1"/>
          <p:nvPr/>
        </p:nvSpPr>
        <p:spPr>
          <a:xfrm>
            <a:off x="4174184" y="123259"/>
            <a:ext cx="3841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PART 2. Data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&amp;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9033F6-C61C-479E-B0BB-D207359CFA08}"/>
              </a:ext>
            </a:extLst>
          </p:cNvPr>
          <p:cNvSpPr txBox="1"/>
          <p:nvPr/>
        </p:nvSpPr>
        <p:spPr>
          <a:xfrm>
            <a:off x="119198" y="554945"/>
            <a:ext cx="855893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SzPts val="1400"/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+mj-ea"/>
              </a:rPr>
              <a:t>Prediction</a:t>
            </a:r>
            <a:r>
              <a:rPr lang="ko-KR" altLang="en-US" b="1" dirty="0">
                <a:latin typeface="+mj-ea"/>
              </a:rPr>
              <a:t> </a:t>
            </a:r>
            <a:r>
              <a:rPr lang="en-US" altLang="ko-KR" b="1" dirty="0">
                <a:latin typeface="+mj-ea"/>
              </a:rPr>
              <a:t>Model:</a:t>
            </a:r>
            <a:r>
              <a:rPr lang="ko-KR" altLang="en-US" b="1" dirty="0">
                <a:latin typeface="+mj-ea"/>
              </a:rPr>
              <a:t> </a:t>
            </a:r>
            <a:r>
              <a:rPr lang="en-US" altLang="ko-KR" b="1" dirty="0" err="1">
                <a:latin typeface="+mj-ea"/>
              </a:rPr>
              <a:t>LightGBM</a:t>
            </a:r>
            <a:endParaRPr lang="en-US" altLang="ko-KR" b="1" dirty="0">
              <a:latin typeface="+mj-ea"/>
            </a:endParaRPr>
          </a:p>
        </p:txBody>
      </p:sp>
      <p:pic>
        <p:nvPicPr>
          <p:cNvPr id="9" name="Picture 6" descr="Fichier:KIOST.png — Wikipédia">
            <a:extLst>
              <a:ext uri="{FF2B5EF4-FFF2-40B4-BE49-F238E27FC236}">
                <a16:creationId xmlns:a16="http://schemas.microsoft.com/office/drawing/2014/main" id="{51565351-EFF1-429E-A366-1D6924B0A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7133" y="115025"/>
            <a:ext cx="713104" cy="3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26E2E3-0146-465E-80BD-4E634FEEDE5F}"/>
              </a:ext>
            </a:extLst>
          </p:cNvPr>
          <p:cNvSpPr txBox="1"/>
          <p:nvPr/>
        </p:nvSpPr>
        <p:spPr>
          <a:xfrm>
            <a:off x="408316" y="982078"/>
            <a:ext cx="113934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개요</a:t>
            </a:r>
            <a:r>
              <a:rPr lang="en-US" altLang="ko-KR" sz="1600" b="1" dirty="0"/>
              <a:t>: </a:t>
            </a:r>
            <a:r>
              <a:rPr lang="en-US" altLang="ko-KR" sz="1600" dirty="0"/>
              <a:t>Light Gradient-Boosting Machine</a:t>
            </a:r>
            <a:r>
              <a:rPr lang="ko-KR" altLang="en-US" sz="1600" dirty="0"/>
              <a:t>의 약자인 </a:t>
            </a:r>
            <a:r>
              <a:rPr lang="en-US" altLang="ko-KR" sz="1600" b="1" dirty="0" err="1"/>
              <a:t>LightGBM</a:t>
            </a:r>
            <a:r>
              <a:rPr lang="ko-KR" altLang="en-US" sz="1600" dirty="0"/>
              <a:t>은 </a:t>
            </a:r>
            <a:r>
              <a:rPr lang="ko-KR" altLang="en-US" sz="1600" b="1" dirty="0"/>
              <a:t>결정 트리</a:t>
            </a:r>
            <a:r>
              <a:rPr lang="en-US" altLang="ko-KR" sz="1600" b="1" dirty="0"/>
              <a:t>(Decision Tree)</a:t>
            </a:r>
            <a:r>
              <a:rPr lang="ko-KR" altLang="en-US" sz="1600" b="1" dirty="0"/>
              <a:t> </a:t>
            </a:r>
            <a:r>
              <a:rPr lang="ko-KR" altLang="en-US" sz="1600" dirty="0"/>
              <a:t>기반의 앙상블 기법인 </a:t>
            </a:r>
            <a:r>
              <a:rPr lang="en-US" altLang="ko-KR" sz="1600" dirty="0"/>
              <a:t>GBM</a:t>
            </a:r>
            <a:r>
              <a:rPr lang="ko-KR" altLang="en-US" sz="1600" dirty="0"/>
              <a:t>의 한 종류로</a:t>
            </a:r>
            <a:r>
              <a:rPr lang="en-US" altLang="ko-KR" sz="1600" dirty="0"/>
              <a:t>, </a:t>
            </a:r>
            <a:r>
              <a:rPr lang="ko-KR" altLang="en-US" sz="1600" dirty="0"/>
              <a:t>예측에 실패한 부분에 가중치를 더하면서 오차를 보완하는 식으로 순차적으로 트리를 만들어 나감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장점</a:t>
            </a:r>
            <a:r>
              <a:rPr lang="en-US" altLang="ko-KR" sz="1600" b="1" dirty="0"/>
              <a:t>: </a:t>
            </a:r>
            <a:r>
              <a:rPr lang="en-US" altLang="ko-KR" sz="1600" dirty="0"/>
              <a:t>Leaf-wise Tree Growth </a:t>
            </a:r>
            <a:r>
              <a:rPr lang="ko-KR" altLang="en-US" sz="1600" dirty="0"/>
              <a:t>구조를 택하기 때문에 </a:t>
            </a:r>
            <a:r>
              <a:rPr lang="en-US" altLang="ko-KR" sz="1600" dirty="0"/>
              <a:t>Level-wise Tree Growth </a:t>
            </a:r>
            <a:r>
              <a:rPr lang="ko-KR" altLang="en-US" sz="1600" dirty="0"/>
              <a:t>구조인 </a:t>
            </a:r>
            <a:r>
              <a:rPr lang="en-US" altLang="ko-KR" sz="1600" dirty="0" err="1"/>
              <a:t>XGBoost</a:t>
            </a:r>
            <a:r>
              <a:rPr lang="en-US" altLang="ko-KR" sz="1600" dirty="0"/>
              <a:t> </a:t>
            </a:r>
            <a:r>
              <a:rPr lang="ko-KR" altLang="en-US" sz="1600" dirty="0"/>
              <a:t>등 다른 </a:t>
            </a:r>
            <a:r>
              <a:rPr lang="ko-KR" altLang="en-US" sz="1600" dirty="0" err="1"/>
              <a:t>부스팅</a:t>
            </a:r>
            <a:r>
              <a:rPr lang="ko-KR" altLang="en-US" sz="1600" dirty="0"/>
              <a:t> 모델 대비 </a:t>
            </a:r>
            <a:r>
              <a:rPr lang="ko-KR" altLang="en-US" sz="1600" b="1" dirty="0"/>
              <a:t>학습 속도가 빠르고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메모리 사용량이 적으면서도 높은 예측 정확도</a:t>
            </a:r>
            <a:r>
              <a:rPr lang="ko-KR" altLang="en-US" sz="1600" dirty="0"/>
              <a:t>를</a:t>
            </a:r>
            <a:r>
              <a:rPr lang="ko-KR" altLang="en-US" sz="1600" b="1" dirty="0"/>
              <a:t> </a:t>
            </a:r>
            <a:r>
              <a:rPr lang="ko-KR" altLang="en-US" sz="1600" dirty="0"/>
              <a:t>자랑하여 널리 사용됨 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단점</a:t>
            </a:r>
            <a:r>
              <a:rPr lang="en-US" altLang="ko-KR" sz="1600" dirty="0"/>
              <a:t>: 10,000</a:t>
            </a:r>
            <a:r>
              <a:rPr lang="ko-KR" altLang="en-US" sz="1600" dirty="0"/>
              <a:t>건 이하의 적은 데이터로 학습할 경우 </a:t>
            </a:r>
            <a:r>
              <a:rPr lang="en-US" altLang="ko-KR" sz="1600" b="1" dirty="0"/>
              <a:t>Overfitting </a:t>
            </a:r>
            <a:r>
              <a:rPr lang="ko-KR" altLang="en-US" sz="1600" b="1" dirty="0"/>
              <a:t>가능성</a:t>
            </a:r>
            <a:r>
              <a:rPr lang="ko-KR" altLang="en-US" sz="1600" dirty="0"/>
              <a:t>이</a:t>
            </a:r>
            <a:r>
              <a:rPr lang="ko-KR" altLang="en-US" sz="1600" b="1" dirty="0"/>
              <a:t> </a:t>
            </a:r>
            <a:r>
              <a:rPr lang="ko-KR" altLang="en-US" sz="1600" dirty="0"/>
              <a:t>높아짐</a:t>
            </a:r>
            <a:r>
              <a:rPr lang="en-US" altLang="ko-KR" sz="1600" dirty="0"/>
              <a:t>.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106E95E-0CCE-4F0F-A57E-E274BD2E5B6A}"/>
              </a:ext>
            </a:extLst>
          </p:cNvPr>
          <p:cNvGrpSpPr/>
          <p:nvPr/>
        </p:nvGrpSpPr>
        <p:grpSpPr>
          <a:xfrm>
            <a:off x="1362911" y="2479867"/>
            <a:ext cx="9484236" cy="1328926"/>
            <a:chOff x="1142358" y="2582171"/>
            <a:chExt cx="9484236" cy="1328926"/>
          </a:xfrm>
        </p:grpSpPr>
        <p:pic>
          <p:nvPicPr>
            <p:cNvPr id="3074" name="Picture 2" descr="Leaf-wise Tree Growth">
              <a:extLst>
                <a:ext uri="{FF2B5EF4-FFF2-40B4-BE49-F238E27FC236}">
                  <a16:creationId xmlns:a16="http://schemas.microsoft.com/office/drawing/2014/main" id="{F8745A24-F93E-4A8A-9E34-8B86C75D55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7967"/>
            <a:stretch/>
          </p:blipFill>
          <p:spPr bwMode="auto">
            <a:xfrm>
              <a:off x="1142358" y="2582171"/>
              <a:ext cx="4665843" cy="13289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6" name="Picture 4" descr="Level-wise Tree Growth">
              <a:extLst>
                <a:ext uri="{FF2B5EF4-FFF2-40B4-BE49-F238E27FC236}">
                  <a16:creationId xmlns:a16="http://schemas.microsoft.com/office/drawing/2014/main" id="{B7B08FF7-C466-4C16-9DB1-FC81BA4E0E3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298"/>
            <a:stretch/>
          </p:blipFill>
          <p:spPr bwMode="auto">
            <a:xfrm>
              <a:off x="6535407" y="2650056"/>
              <a:ext cx="4091187" cy="12587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80A6B1F-94FA-45F6-B45F-3F7C228E307D}"/>
              </a:ext>
            </a:extLst>
          </p:cNvPr>
          <p:cNvSpPr txBox="1"/>
          <p:nvPr/>
        </p:nvSpPr>
        <p:spPr>
          <a:xfrm>
            <a:off x="1227865" y="3848856"/>
            <a:ext cx="457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Leaf-wise tree growth - </a:t>
            </a:r>
            <a:r>
              <a:rPr lang="en-US" altLang="ko-KR" sz="1400" dirty="0" err="1"/>
              <a:t>LightGBM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A6C462-906D-431A-A69B-BE4DA27C06CD}"/>
              </a:ext>
            </a:extLst>
          </p:cNvPr>
          <p:cNvSpPr txBox="1"/>
          <p:nvPr/>
        </p:nvSpPr>
        <p:spPr>
          <a:xfrm>
            <a:off x="6398355" y="3847405"/>
            <a:ext cx="457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Level-wise tree growth - </a:t>
            </a:r>
            <a:r>
              <a:rPr lang="en-US" altLang="ko-KR" sz="1400" dirty="0" err="1"/>
              <a:t>XGBoost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6B7BE7-E6F2-488F-891B-2687574DEDE9}"/>
              </a:ext>
            </a:extLst>
          </p:cNvPr>
          <p:cNvSpPr txBox="1"/>
          <p:nvPr/>
        </p:nvSpPr>
        <p:spPr>
          <a:xfrm>
            <a:off x="119198" y="4091038"/>
            <a:ext cx="855893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SzPts val="1400"/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+mj-ea"/>
              </a:rPr>
              <a:t>What is </a:t>
            </a:r>
            <a:r>
              <a:rPr lang="en-US" altLang="ko-KR" b="1" dirty="0" err="1">
                <a:latin typeface="+mj-ea"/>
              </a:rPr>
              <a:t>LightGBM</a:t>
            </a:r>
            <a:r>
              <a:rPr lang="en-US" altLang="ko-KR" b="1" dirty="0">
                <a:latin typeface="+mj-ea"/>
              </a:rPr>
              <a:t>? (1/2) – The Core Idea: Boosting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0F5A56-4518-449B-9472-2D6BFFA0F135}"/>
              </a:ext>
            </a:extLst>
          </p:cNvPr>
          <p:cNvSpPr txBox="1"/>
          <p:nvPr/>
        </p:nvSpPr>
        <p:spPr>
          <a:xfrm>
            <a:off x="408316" y="4534566"/>
            <a:ext cx="1139342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기본 아이디어</a:t>
            </a:r>
            <a:r>
              <a:rPr lang="en-US" altLang="ko-KR" sz="1600" b="1" dirty="0"/>
              <a:t>: </a:t>
            </a:r>
            <a:r>
              <a:rPr lang="ko-KR" altLang="en-US" sz="1600" dirty="0"/>
              <a:t>하나의 강력한 천재 모델 대신</a:t>
            </a:r>
            <a:r>
              <a:rPr lang="en-US" altLang="ko-KR" sz="1600" dirty="0"/>
              <a:t>, </a:t>
            </a:r>
            <a:r>
              <a:rPr lang="ko-KR" altLang="en-US" sz="1600" b="1" dirty="0"/>
              <a:t>여러 개의 간단한 모델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약한 </a:t>
            </a:r>
            <a:r>
              <a:rPr lang="ko-KR" altLang="en-US" sz="1600" b="1" dirty="0" err="1"/>
              <a:t>학습기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를 모아 </a:t>
            </a:r>
            <a:r>
              <a:rPr lang="en-US" altLang="ko-KR" sz="1600" b="1" dirty="0"/>
              <a:t>‘</a:t>
            </a:r>
            <a:r>
              <a:rPr lang="ko-KR" altLang="en-US" sz="1600" b="1" dirty="0"/>
              <a:t>전문가 팀</a:t>
            </a:r>
            <a:r>
              <a:rPr lang="en-US" altLang="ko-KR" sz="1600" b="1" dirty="0"/>
              <a:t>’</a:t>
            </a:r>
            <a:r>
              <a:rPr lang="ko-KR" altLang="en-US" sz="1600" b="1" dirty="0"/>
              <a:t>을 구성</a:t>
            </a:r>
            <a:r>
              <a:rPr lang="ko-KR" altLang="en-US" sz="1600" dirty="0"/>
              <a:t>하는 앙상블 기법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학습 방식</a:t>
            </a:r>
            <a:r>
              <a:rPr lang="en-US" altLang="ko-KR" sz="1600" b="1" dirty="0"/>
              <a:t>: “</a:t>
            </a:r>
            <a:r>
              <a:rPr lang="ko-KR" altLang="en-US" sz="1600" b="1" dirty="0"/>
              <a:t>오답 노트</a:t>
            </a:r>
            <a:r>
              <a:rPr lang="en-US" altLang="ko-KR" sz="1600" b="1" dirty="0"/>
              <a:t>“</a:t>
            </a:r>
            <a:endParaRPr lang="en-US" altLang="ko-KR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020A90-BEFF-4EC6-A7A5-4421D4B4545A}"/>
              </a:ext>
            </a:extLst>
          </p:cNvPr>
          <p:cNvSpPr txBox="1"/>
          <p:nvPr/>
        </p:nvSpPr>
        <p:spPr>
          <a:xfrm>
            <a:off x="738611" y="5391056"/>
            <a:ext cx="115197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ko-KR" altLang="en-US" sz="1500" dirty="0"/>
              <a:t>첫 번째 모델</a:t>
            </a:r>
            <a:r>
              <a:rPr lang="en-US" altLang="ko-KR" sz="1500" dirty="0"/>
              <a:t>(</a:t>
            </a:r>
            <a:r>
              <a:rPr lang="ko-KR" altLang="en-US" sz="1500" dirty="0"/>
              <a:t>학생 </a:t>
            </a:r>
            <a:r>
              <a:rPr lang="en-US" altLang="ko-KR" sz="1500" dirty="0"/>
              <a:t>A)</a:t>
            </a:r>
            <a:r>
              <a:rPr lang="ko-KR" altLang="en-US" sz="1500" dirty="0"/>
              <a:t>이 예측을 수행하고</a:t>
            </a:r>
            <a:r>
              <a:rPr lang="en-US" altLang="ko-KR" sz="1500" dirty="0"/>
              <a:t>, </a:t>
            </a:r>
            <a:r>
              <a:rPr lang="ko-KR" altLang="en-US" sz="1500" dirty="0"/>
              <a:t>틀린 문제들을 </a:t>
            </a:r>
            <a:r>
              <a:rPr lang="en-US" altLang="ko-KR" sz="1500" dirty="0"/>
              <a:t>‘</a:t>
            </a:r>
            <a:r>
              <a:rPr lang="ko-KR" altLang="en-US" sz="1500" dirty="0"/>
              <a:t>오답 노트</a:t>
            </a:r>
            <a:r>
              <a:rPr lang="en-US" altLang="ko-KR" sz="1500" dirty="0"/>
              <a:t>’</a:t>
            </a:r>
            <a:r>
              <a:rPr lang="ko-KR" altLang="en-US" sz="1500" dirty="0"/>
              <a:t>에 기록한다</a:t>
            </a:r>
            <a:r>
              <a:rPr lang="en-US" altLang="ko-KR" sz="1500" dirty="0"/>
              <a:t>.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sz="300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sz="1500" dirty="0"/>
              <a:t>두 번째 모델</a:t>
            </a:r>
            <a:r>
              <a:rPr lang="en-US" altLang="ko-KR" sz="1500" dirty="0"/>
              <a:t>(</a:t>
            </a:r>
            <a:r>
              <a:rPr lang="ko-KR" altLang="en-US" sz="1500" dirty="0"/>
              <a:t>학생 </a:t>
            </a:r>
            <a:r>
              <a:rPr lang="en-US" altLang="ko-KR" sz="1500" dirty="0"/>
              <a:t>B)</a:t>
            </a:r>
            <a:r>
              <a:rPr lang="ko-KR" altLang="en-US" sz="1500" dirty="0"/>
              <a:t>은 이 오답 노트를 전달받아</a:t>
            </a:r>
            <a:r>
              <a:rPr lang="en-US" altLang="ko-KR" sz="1500" dirty="0"/>
              <a:t>, </a:t>
            </a:r>
            <a:r>
              <a:rPr lang="ko-KR" altLang="en-US" sz="1500" b="1" dirty="0"/>
              <a:t>앞선 모델이 틀렸던 문제에 집중하여 학습</a:t>
            </a:r>
            <a:r>
              <a:rPr lang="ko-KR" altLang="en-US" sz="1500" dirty="0"/>
              <a:t>한다</a:t>
            </a:r>
            <a:r>
              <a:rPr lang="en-US" altLang="ko-KR" sz="1500" dirty="0"/>
              <a:t>.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sz="300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sz="1500" dirty="0"/>
              <a:t>이 과정을 수백</a:t>
            </a:r>
            <a:r>
              <a:rPr lang="en-US" altLang="ko-KR" sz="1500" dirty="0"/>
              <a:t>, </a:t>
            </a:r>
            <a:r>
              <a:rPr lang="ko-KR" altLang="en-US" sz="1500" dirty="0"/>
              <a:t>수천 번 반복해 이전 모델의 실수를 계속 보완하여 예측 정확도를 점진적으로 향상시킨다</a:t>
            </a:r>
            <a:r>
              <a:rPr lang="en-US" altLang="ko-KR" sz="1500" dirty="0"/>
              <a:t>. (Gradient Boosting)</a:t>
            </a:r>
          </a:p>
          <a:p>
            <a:r>
              <a:rPr lang="en-US" altLang="ko-KR" sz="1500" dirty="0"/>
              <a:t>,,,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F1891C-9039-4A16-8309-277EA4351F9D}"/>
              </a:ext>
            </a:extLst>
          </p:cNvPr>
          <p:cNvSpPr txBox="1"/>
          <p:nvPr/>
        </p:nvSpPr>
        <p:spPr>
          <a:xfrm>
            <a:off x="43133" y="6585255"/>
            <a:ext cx="126532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i="1" dirty="0">
                <a:latin typeface="+mj-lt"/>
              </a:rPr>
              <a:t>Reference 3) ‘[</a:t>
            </a:r>
            <a:r>
              <a:rPr lang="ko-KR" altLang="en-US" sz="800" i="1" dirty="0" err="1">
                <a:latin typeface="+mj-lt"/>
              </a:rPr>
              <a:t>머신러닝</a:t>
            </a:r>
            <a:r>
              <a:rPr lang="en-US" altLang="ko-KR" sz="800" i="1" dirty="0">
                <a:latin typeface="+mj-lt"/>
              </a:rPr>
              <a:t>] </a:t>
            </a:r>
            <a:r>
              <a:rPr lang="en-US" altLang="ko-KR" sz="800" i="1" dirty="0" err="1">
                <a:latin typeface="+mj-lt"/>
              </a:rPr>
              <a:t>LightGBM</a:t>
            </a:r>
            <a:r>
              <a:rPr lang="en-US" altLang="ko-KR" sz="800" i="1" dirty="0">
                <a:latin typeface="+mj-lt"/>
              </a:rPr>
              <a:t>, 2021.11.21., https://velog.io/@kkiyou/lgbm</a:t>
            </a:r>
          </a:p>
        </p:txBody>
      </p:sp>
    </p:spTree>
    <p:extLst>
      <p:ext uri="{BB962C8B-B14F-4D97-AF65-F5344CB8AC3E}">
        <p14:creationId xmlns:p14="http://schemas.microsoft.com/office/powerpoint/2010/main" val="2201086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549CE2-CB9F-4185-B235-9D8D1135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FC81F0-17A1-475D-82DC-00510E71D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95B701-29AB-4DEA-B452-1320102019FF}"/>
              </a:ext>
            </a:extLst>
          </p:cNvPr>
          <p:cNvSpPr/>
          <p:nvPr/>
        </p:nvSpPr>
        <p:spPr>
          <a:xfrm>
            <a:off x="43134" y="49602"/>
            <a:ext cx="12105732" cy="6758796"/>
          </a:xfrm>
          <a:prstGeom prst="rect">
            <a:avLst/>
          </a:prstGeom>
          <a:solidFill>
            <a:schemeClr val="bg1"/>
          </a:solidFill>
          <a:ln>
            <a:solidFill>
              <a:srgbClr val="0BA1B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14">
            <a:extLst>
              <a:ext uri="{FF2B5EF4-FFF2-40B4-BE49-F238E27FC236}">
                <a16:creationId xmlns:a16="http://schemas.microsoft.com/office/drawing/2014/main" id="{76B72F29-86A4-43C1-82CE-D38AD3ADF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088779A-0CFD-45F8-A90F-211FA2D99F8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A08BEB1-49B9-41B8-B3F3-77DB312DDC1F}"/>
              </a:ext>
            </a:extLst>
          </p:cNvPr>
          <p:cNvCxnSpPr>
            <a:cxnSpLocks/>
          </p:cNvCxnSpPr>
          <p:nvPr/>
        </p:nvCxnSpPr>
        <p:spPr>
          <a:xfrm>
            <a:off x="43133" y="566248"/>
            <a:ext cx="12105732" cy="0"/>
          </a:xfrm>
          <a:prstGeom prst="line">
            <a:avLst/>
          </a:prstGeom>
          <a:ln>
            <a:solidFill>
              <a:srgbClr val="0BA1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6D48C38-C06B-4D9D-985D-74D02E466F73}"/>
              </a:ext>
            </a:extLst>
          </p:cNvPr>
          <p:cNvSpPr txBox="1"/>
          <p:nvPr/>
        </p:nvSpPr>
        <p:spPr>
          <a:xfrm>
            <a:off x="4174184" y="123259"/>
            <a:ext cx="3841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PART 2. Data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&amp;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Methodology</a:t>
            </a:r>
          </a:p>
        </p:txBody>
      </p:sp>
      <p:pic>
        <p:nvPicPr>
          <p:cNvPr id="8" name="Picture 6" descr="Fichier:KIOST.png — Wikipédia">
            <a:extLst>
              <a:ext uri="{FF2B5EF4-FFF2-40B4-BE49-F238E27FC236}">
                <a16:creationId xmlns:a16="http://schemas.microsoft.com/office/drawing/2014/main" id="{420D0799-AA7A-4835-ABF6-F6A75A4E5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7133" y="115025"/>
            <a:ext cx="713104" cy="3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0EF53D-A3FB-4FAA-9D4F-4E2CAE779684}"/>
              </a:ext>
            </a:extLst>
          </p:cNvPr>
          <p:cNvSpPr txBox="1"/>
          <p:nvPr/>
        </p:nvSpPr>
        <p:spPr>
          <a:xfrm>
            <a:off x="119198" y="554945"/>
            <a:ext cx="855893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SzPts val="1400"/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+mj-ea"/>
              </a:rPr>
              <a:t>What is </a:t>
            </a:r>
            <a:r>
              <a:rPr lang="en-US" altLang="ko-KR" b="1" dirty="0" err="1">
                <a:latin typeface="+mj-ea"/>
              </a:rPr>
              <a:t>LightGBM</a:t>
            </a:r>
            <a:r>
              <a:rPr lang="en-US" altLang="ko-KR" b="1" dirty="0">
                <a:latin typeface="+mj-ea"/>
              </a:rPr>
              <a:t>? (2/2) – The “Light” Secret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F2BF3-4B93-415F-8F0D-5780A116853D}"/>
              </a:ext>
            </a:extLst>
          </p:cNvPr>
          <p:cNvSpPr txBox="1"/>
          <p:nvPr/>
        </p:nvSpPr>
        <p:spPr>
          <a:xfrm>
            <a:off x="408316" y="982078"/>
            <a:ext cx="1139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LightGBM</a:t>
            </a:r>
            <a:r>
              <a:rPr lang="ko-KR" altLang="en-US" sz="1600" dirty="0"/>
              <a:t>이 다른 </a:t>
            </a:r>
            <a:r>
              <a:rPr lang="ko-KR" altLang="en-US" sz="1600" dirty="0" err="1"/>
              <a:t>부스팅</a:t>
            </a:r>
            <a:r>
              <a:rPr lang="ko-KR" altLang="en-US" sz="1600" dirty="0"/>
              <a:t> 모델보다 </a:t>
            </a:r>
            <a:r>
              <a:rPr lang="en-US" altLang="ko-KR" sz="1600" b="1" dirty="0"/>
              <a:t>‘</a:t>
            </a:r>
            <a:r>
              <a:rPr lang="ko-KR" altLang="en-US" sz="1600" b="1" dirty="0"/>
              <a:t>가볍고 빠른</a:t>
            </a:r>
            <a:r>
              <a:rPr lang="en-US" altLang="ko-KR" sz="1600" b="1" dirty="0"/>
              <a:t>’ </a:t>
            </a:r>
            <a:r>
              <a:rPr lang="ko-KR" altLang="en-US" sz="1600" dirty="0"/>
              <a:t>이유는 두 가지 핵심 기술 덕분이다</a:t>
            </a:r>
            <a:r>
              <a:rPr lang="en-US" altLang="ko-KR" sz="16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A0BC72-8E2D-4835-9532-58E314E94A87}"/>
              </a:ext>
            </a:extLst>
          </p:cNvPr>
          <p:cNvSpPr txBox="1"/>
          <p:nvPr/>
        </p:nvSpPr>
        <p:spPr>
          <a:xfrm>
            <a:off x="756718" y="1320632"/>
            <a:ext cx="10895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600" b="1" dirty="0"/>
              <a:t>GOSS (Gradient-based One-Side Sampling)</a:t>
            </a:r>
            <a:endParaRPr lang="en-US" altLang="ko-KR" sz="5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E4275A-D2A0-42E1-AC4A-ED8E130A1ED4}"/>
              </a:ext>
            </a:extLst>
          </p:cNvPr>
          <p:cNvSpPr txBox="1"/>
          <p:nvPr/>
        </p:nvSpPr>
        <p:spPr>
          <a:xfrm>
            <a:off x="1005246" y="1669194"/>
            <a:ext cx="108950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전략</a:t>
            </a:r>
            <a:r>
              <a:rPr lang="en-US" altLang="ko-KR" sz="1600" b="1" dirty="0"/>
              <a:t>:</a:t>
            </a:r>
            <a:r>
              <a:rPr lang="en-US" altLang="ko-KR" sz="1600" dirty="0"/>
              <a:t> </a:t>
            </a:r>
            <a:r>
              <a:rPr lang="ko-KR" altLang="en-US" sz="1600" b="1" dirty="0"/>
              <a:t>어려운 문제에 집중하기</a:t>
            </a:r>
            <a:endParaRPr lang="en-US" altLang="ko-KR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5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설명</a:t>
            </a:r>
            <a:r>
              <a:rPr lang="en-US" altLang="ko-KR" sz="1600" b="1" dirty="0"/>
              <a:t>:</a:t>
            </a:r>
            <a:r>
              <a:rPr lang="en-US" altLang="ko-KR" sz="1600" dirty="0"/>
              <a:t> </a:t>
            </a:r>
            <a:r>
              <a:rPr lang="ko-KR" altLang="en-US" sz="1600" dirty="0"/>
              <a:t>모델이 이미 잘 맞추는 </a:t>
            </a:r>
            <a:r>
              <a:rPr lang="en-US" altLang="ko-KR" sz="1600" dirty="0"/>
              <a:t>‘</a:t>
            </a:r>
            <a:r>
              <a:rPr lang="ko-KR" altLang="en-US" sz="1600" dirty="0"/>
              <a:t>쉬운</a:t>
            </a:r>
            <a:r>
              <a:rPr lang="en-US" altLang="ko-KR" sz="1600" dirty="0"/>
              <a:t>’ </a:t>
            </a:r>
            <a:r>
              <a:rPr lang="ko-KR" altLang="en-US" sz="1600" dirty="0"/>
              <a:t>데이터는 가끔씩만 보고</a:t>
            </a:r>
            <a:r>
              <a:rPr lang="en-US" altLang="ko-KR" sz="1600" dirty="0"/>
              <a:t>, </a:t>
            </a:r>
            <a:r>
              <a:rPr lang="ko-KR" altLang="en-US" sz="1600" dirty="0"/>
              <a:t>예측하기 </a:t>
            </a:r>
            <a:r>
              <a:rPr lang="ko-KR" altLang="en-US" sz="1600" b="1" dirty="0"/>
              <a:t>어려워지는</a:t>
            </a:r>
            <a:r>
              <a:rPr lang="en-US" altLang="ko-KR" sz="1600" b="1" dirty="0"/>
              <a:t> ‘</a:t>
            </a:r>
            <a:r>
              <a:rPr lang="ko-KR" altLang="en-US" sz="1600" b="1" dirty="0"/>
              <a:t>오차가 큰</a:t>
            </a:r>
            <a:r>
              <a:rPr lang="en-US" altLang="ko-KR" sz="1600" b="1" dirty="0"/>
              <a:t>‘ </a:t>
            </a:r>
            <a:r>
              <a:rPr lang="ko-KR" altLang="en-US" sz="1600" b="1" dirty="0"/>
              <a:t>데이터 위주로 </a:t>
            </a:r>
            <a:r>
              <a:rPr lang="ko-KR" altLang="en-US" sz="1600" b="1" dirty="0" err="1"/>
              <a:t>샘플링</a:t>
            </a:r>
            <a:r>
              <a:rPr lang="ko-KR" altLang="en-US" sz="1600" dirty="0" err="1"/>
              <a:t>하여</a:t>
            </a:r>
            <a:r>
              <a:rPr lang="ko-KR" altLang="en-US" sz="1600" dirty="0"/>
              <a:t> 학습 시간을 대폭 단축시킨다</a:t>
            </a:r>
            <a:r>
              <a:rPr lang="en-US" altLang="ko-KR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예시</a:t>
            </a:r>
            <a:r>
              <a:rPr lang="en-US" altLang="ko-KR" sz="1600" b="1" dirty="0"/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BF0294-3FD0-4A5C-AF51-A2508AB4B5AE}"/>
              </a:ext>
            </a:extLst>
          </p:cNvPr>
          <p:cNvSpPr txBox="1"/>
          <p:nvPr/>
        </p:nvSpPr>
        <p:spPr>
          <a:xfrm>
            <a:off x="756718" y="3791451"/>
            <a:ext cx="10895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altLang="ko-KR" sz="1600" b="1" dirty="0"/>
              <a:t>EFB (Exclusive Feature Bundling)</a:t>
            </a:r>
            <a:endParaRPr lang="en-US" altLang="ko-KR" sz="5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8BE3D7-B97A-4367-849F-176BB7BB89DE}"/>
              </a:ext>
            </a:extLst>
          </p:cNvPr>
          <p:cNvSpPr txBox="1"/>
          <p:nvPr/>
        </p:nvSpPr>
        <p:spPr>
          <a:xfrm>
            <a:off x="1005246" y="4140207"/>
            <a:ext cx="108950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전략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비슷한 정보는 묶어서 처리하기</a:t>
            </a:r>
            <a:endParaRPr lang="en-US" altLang="ko-KR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설명</a:t>
            </a:r>
            <a:r>
              <a:rPr lang="en-US" altLang="ko-KR" sz="1600" b="1" dirty="0"/>
              <a:t>:</a:t>
            </a:r>
            <a:r>
              <a:rPr lang="en-US" altLang="ko-KR" sz="1600" dirty="0"/>
              <a:t> </a:t>
            </a:r>
            <a:r>
              <a:rPr lang="ko-KR" altLang="en-US" sz="1600" dirty="0"/>
              <a:t>동시에 중요하게 사용되지 않는 여러 개의 </a:t>
            </a:r>
            <a:r>
              <a:rPr lang="en-US" altLang="ko-KR" sz="1600" dirty="0"/>
              <a:t>'</a:t>
            </a:r>
            <a:r>
              <a:rPr lang="ko-KR" altLang="en-US" sz="1600" dirty="0"/>
              <a:t>희소한</a:t>
            </a:r>
            <a:r>
              <a:rPr lang="en-US" altLang="ko-KR" sz="1600" dirty="0"/>
              <a:t>' </a:t>
            </a:r>
            <a:r>
              <a:rPr lang="ko-KR" altLang="en-US" sz="1600" dirty="0"/>
              <a:t>특성들을 </a:t>
            </a:r>
            <a:r>
              <a:rPr lang="ko-KR" altLang="en-US" sz="1600" b="1" dirty="0"/>
              <a:t>하나의 </a:t>
            </a:r>
            <a:r>
              <a:rPr lang="en-US" altLang="ko-KR" sz="1600" b="1" dirty="0"/>
              <a:t>'</a:t>
            </a:r>
            <a:r>
              <a:rPr lang="ko-KR" altLang="en-US" sz="1600" b="1" dirty="0"/>
              <a:t>종합 특성</a:t>
            </a:r>
            <a:r>
              <a:rPr lang="en-US" altLang="ko-KR" sz="1600" b="1" dirty="0"/>
              <a:t>'</a:t>
            </a:r>
            <a:r>
              <a:rPr lang="ko-KR" altLang="en-US" sz="1600" b="1" dirty="0"/>
              <a:t>으로 묶어서 </a:t>
            </a:r>
            <a:r>
              <a:rPr lang="ko-KR" altLang="en-US" sz="1600" dirty="0"/>
              <a:t>처리할 정보의 양을 줄여 계산 속도를 혁신적으로 높인다</a:t>
            </a:r>
            <a:r>
              <a:rPr lang="en-US" altLang="ko-KR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예시</a:t>
            </a:r>
            <a:r>
              <a:rPr lang="en-US" altLang="ko-KR" sz="1600" b="1" dirty="0"/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867E1F-9764-4EEB-836D-1ED9107FE8AC}"/>
              </a:ext>
            </a:extLst>
          </p:cNvPr>
          <p:cNvSpPr txBox="1"/>
          <p:nvPr/>
        </p:nvSpPr>
        <p:spPr>
          <a:xfrm>
            <a:off x="1402779" y="2840312"/>
            <a:ext cx="1074608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쉬운 문제</a:t>
            </a:r>
            <a:r>
              <a:rPr lang="en-US" altLang="ko-KR" sz="1600" b="1" dirty="0"/>
              <a:t> (</a:t>
            </a:r>
            <a:r>
              <a:rPr lang="ko-KR" altLang="en-US" sz="1600" b="1" dirty="0"/>
              <a:t>오차 작음</a:t>
            </a:r>
            <a:r>
              <a:rPr lang="en-US" altLang="ko-KR" sz="1600" b="1" dirty="0"/>
              <a:t>):</a:t>
            </a:r>
            <a:r>
              <a:rPr lang="en-US" altLang="ko-KR" sz="1600" dirty="0"/>
              <a:t> </a:t>
            </a:r>
            <a:r>
              <a:rPr lang="ko-KR" altLang="en-US" sz="1600" dirty="0"/>
              <a:t>평온한 여름날의 수온 예측</a:t>
            </a:r>
            <a:r>
              <a:rPr lang="en-US" altLang="ko-KR" sz="1600" dirty="0"/>
              <a:t>. </a:t>
            </a:r>
            <a:r>
              <a:rPr lang="ko-KR" altLang="en-US" sz="1600" dirty="0"/>
              <a:t>모델이 쉽게 맞추므로 학습 비중을 줄인다</a:t>
            </a:r>
            <a:r>
              <a:rPr lang="en-US" altLang="ko-KR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어려운 문제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오차 큼</a:t>
            </a:r>
            <a:r>
              <a:rPr lang="en-US" altLang="ko-KR" sz="1600" b="1" dirty="0"/>
              <a:t>): </a:t>
            </a:r>
            <a:r>
              <a:rPr lang="ko-KR" altLang="en-US" sz="1600" dirty="0"/>
              <a:t>태풍 통과 직후 급격히 변하는 수온 예측</a:t>
            </a:r>
            <a:r>
              <a:rPr lang="en-US" altLang="ko-KR" sz="1600" dirty="0"/>
              <a:t>. </a:t>
            </a:r>
            <a:r>
              <a:rPr lang="ko-KR" altLang="en-US" sz="1600" dirty="0"/>
              <a:t>모델이 어려워하므로 이런 데이터들을 집중적으로 학습시켜 성능을 높인다</a:t>
            </a:r>
            <a:r>
              <a:rPr lang="en-US" altLang="ko-KR" sz="160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142016-22D3-4F62-874B-9D27259A39B1}"/>
              </a:ext>
            </a:extLst>
          </p:cNvPr>
          <p:cNvSpPr txBox="1"/>
          <p:nvPr/>
        </p:nvSpPr>
        <p:spPr>
          <a:xfrm>
            <a:off x="1402779" y="5312483"/>
            <a:ext cx="1024903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b="1" dirty="0"/>
              <a:t>희소한 특성들</a:t>
            </a:r>
            <a:r>
              <a:rPr lang="en-US" altLang="ko-KR" sz="1600" b="1" dirty="0"/>
              <a:t>: </a:t>
            </a:r>
            <a:r>
              <a:rPr lang="en-US" altLang="ko-KR" sz="1600" dirty="0"/>
              <a:t>‘</a:t>
            </a:r>
            <a:r>
              <a:rPr lang="ko-KR" altLang="en-US" sz="1600" dirty="0"/>
              <a:t>오전인가</a:t>
            </a:r>
            <a:r>
              <a:rPr lang="en-US" altLang="ko-KR" sz="1600" dirty="0"/>
              <a:t>?’, ‘</a:t>
            </a:r>
            <a:r>
              <a:rPr lang="ko-KR" altLang="en-US" sz="1600" dirty="0"/>
              <a:t>오후인가</a:t>
            </a:r>
            <a:r>
              <a:rPr lang="en-US" altLang="ko-KR" sz="1600" dirty="0"/>
              <a:t>?’, ‘</a:t>
            </a:r>
            <a:r>
              <a:rPr lang="ko-KR" altLang="en-US" sz="1600" dirty="0"/>
              <a:t>저녁인가</a:t>
            </a:r>
            <a:r>
              <a:rPr lang="en-US" altLang="ko-KR" sz="1600" dirty="0"/>
              <a:t>?’, ‘</a:t>
            </a:r>
            <a:r>
              <a:rPr lang="ko-KR" altLang="en-US" sz="1600" dirty="0"/>
              <a:t>밤인가</a:t>
            </a:r>
            <a:r>
              <a:rPr lang="en-US" altLang="ko-KR" sz="1600" dirty="0"/>
              <a:t>?‘ </a:t>
            </a:r>
            <a:r>
              <a:rPr lang="ko-KR" altLang="en-US" sz="1600" dirty="0"/>
              <a:t>라는 </a:t>
            </a:r>
            <a:r>
              <a:rPr lang="en-US" altLang="ko-KR" sz="1600" dirty="0"/>
              <a:t>4</a:t>
            </a:r>
            <a:r>
              <a:rPr lang="ko-KR" altLang="en-US" sz="1600" dirty="0"/>
              <a:t>개의 질문</a:t>
            </a:r>
            <a:r>
              <a:rPr lang="en-US" altLang="ko-KR" sz="1600" dirty="0"/>
              <a:t>(</a:t>
            </a:r>
            <a:r>
              <a:rPr lang="ko-KR" altLang="en-US" sz="1600" dirty="0"/>
              <a:t>특성</a:t>
            </a:r>
            <a:r>
              <a:rPr lang="en-US" altLang="ko-KR" sz="1600" dirty="0"/>
              <a:t>)</a:t>
            </a:r>
            <a:r>
              <a:rPr lang="ko-KR" altLang="en-US" sz="1600" dirty="0"/>
              <a:t>은 한 시점에 하나만 </a:t>
            </a:r>
            <a:r>
              <a:rPr lang="en-US" altLang="ko-KR" sz="1600" dirty="0"/>
              <a:t>‘YES’</a:t>
            </a:r>
            <a:r>
              <a:rPr lang="ko-KR" altLang="en-US" sz="1600" dirty="0"/>
              <a:t>가 될 수 있음</a:t>
            </a:r>
            <a:r>
              <a:rPr lang="en-US" altLang="ko-KR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묶기</a:t>
            </a:r>
            <a:r>
              <a:rPr lang="en-US" altLang="ko-KR" sz="1600" b="1" dirty="0"/>
              <a:t>: </a:t>
            </a:r>
            <a:r>
              <a:rPr lang="en-US" altLang="ko-KR" sz="1600" dirty="0" err="1"/>
              <a:t>LightGBM</a:t>
            </a:r>
            <a:r>
              <a:rPr lang="ko-KR" altLang="en-US" sz="1600" dirty="0"/>
              <a:t>은 이 </a:t>
            </a:r>
            <a:r>
              <a:rPr lang="en-US" altLang="ko-KR" sz="1600" dirty="0"/>
              <a:t>4</a:t>
            </a:r>
            <a:r>
              <a:rPr lang="ko-KR" altLang="en-US" sz="1600" dirty="0"/>
              <a:t>개의 </a:t>
            </a:r>
            <a:r>
              <a:rPr lang="ko-KR" altLang="en-US" sz="1600" b="1" dirty="0"/>
              <a:t>질문을</a:t>
            </a:r>
            <a:r>
              <a:rPr lang="en-US" altLang="ko-KR" sz="1600" b="1" dirty="0"/>
              <a:t> ‘</a:t>
            </a:r>
            <a:r>
              <a:rPr lang="ko-KR" altLang="en-US" sz="1600" b="1" dirty="0"/>
              <a:t>시간대</a:t>
            </a:r>
            <a:r>
              <a:rPr lang="en-US" altLang="ko-KR" sz="1600" b="1" dirty="0"/>
              <a:t>’</a:t>
            </a:r>
            <a:r>
              <a:rPr lang="ko-KR" altLang="en-US" sz="1600" b="1" dirty="0"/>
              <a:t>라는 하나의 종합 특성으로 묶어서 처리</a:t>
            </a:r>
            <a:r>
              <a:rPr lang="ko-KR" altLang="en-US" sz="1600" dirty="0"/>
              <a:t>하여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계산량을</a:t>
            </a:r>
            <a:r>
              <a:rPr lang="ko-KR" altLang="en-US" sz="1600" dirty="0"/>
              <a:t> </a:t>
            </a:r>
            <a:r>
              <a:rPr lang="en-US" altLang="ko-KR" sz="1600" dirty="0"/>
              <a:t>¼</a:t>
            </a:r>
            <a:r>
              <a:rPr lang="ko-KR" altLang="en-US" sz="1600" dirty="0"/>
              <a:t>로 줄인다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75654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E476F-5A30-497C-BA62-D3CD27E3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BC2E80-799E-4C23-B6F0-E13108BA0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59F9E7-F3FF-426C-A918-6C6A5213EAAE}"/>
              </a:ext>
            </a:extLst>
          </p:cNvPr>
          <p:cNvSpPr/>
          <p:nvPr/>
        </p:nvSpPr>
        <p:spPr>
          <a:xfrm>
            <a:off x="43134" y="49602"/>
            <a:ext cx="12105732" cy="6758796"/>
          </a:xfrm>
          <a:prstGeom prst="rect">
            <a:avLst/>
          </a:prstGeom>
          <a:solidFill>
            <a:schemeClr val="bg1"/>
          </a:solidFill>
          <a:ln>
            <a:solidFill>
              <a:srgbClr val="0BA1B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14">
            <a:extLst>
              <a:ext uri="{FF2B5EF4-FFF2-40B4-BE49-F238E27FC236}">
                <a16:creationId xmlns:a16="http://schemas.microsoft.com/office/drawing/2014/main" id="{24EA7921-907E-4D06-BEE5-C7B03B9C8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088779A-0CFD-45F8-A90F-211FA2D99F8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469FBA7-BA08-4C68-BB8B-8DD5205474AF}"/>
              </a:ext>
            </a:extLst>
          </p:cNvPr>
          <p:cNvCxnSpPr>
            <a:cxnSpLocks/>
          </p:cNvCxnSpPr>
          <p:nvPr/>
        </p:nvCxnSpPr>
        <p:spPr>
          <a:xfrm>
            <a:off x="43133" y="566248"/>
            <a:ext cx="12105732" cy="0"/>
          </a:xfrm>
          <a:prstGeom prst="line">
            <a:avLst/>
          </a:prstGeom>
          <a:ln>
            <a:solidFill>
              <a:srgbClr val="0BA1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D5DEAFD-016A-4767-A61E-230B32DDE70E}"/>
              </a:ext>
            </a:extLst>
          </p:cNvPr>
          <p:cNvSpPr txBox="1"/>
          <p:nvPr/>
        </p:nvSpPr>
        <p:spPr>
          <a:xfrm>
            <a:off x="4174184" y="123259"/>
            <a:ext cx="3841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PART 3. Implementation</a:t>
            </a:r>
          </a:p>
        </p:txBody>
      </p:sp>
      <p:pic>
        <p:nvPicPr>
          <p:cNvPr id="8" name="Picture 6" descr="Fichier:KIOST.png — Wikipédia">
            <a:extLst>
              <a:ext uri="{FF2B5EF4-FFF2-40B4-BE49-F238E27FC236}">
                <a16:creationId xmlns:a16="http://schemas.microsoft.com/office/drawing/2014/main" id="{9B5FEA3E-3A48-4071-9EED-E63536948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7133" y="115025"/>
            <a:ext cx="713104" cy="3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F87B59-9985-4BB0-A822-7B1FE2C20EB4}"/>
              </a:ext>
            </a:extLst>
          </p:cNvPr>
          <p:cNvSpPr txBox="1"/>
          <p:nvPr/>
        </p:nvSpPr>
        <p:spPr>
          <a:xfrm>
            <a:off x="119198" y="554945"/>
            <a:ext cx="8558938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SzPts val="1400"/>
              <a:buFont typeface="Wingdings" panose="05000000000000000000" pitchFamily="2" charset="2"/>
              <a:buChar char="v"/>
            </a:pPr>
            <a:r>
              <a:rPr lang="en-US" altLang="ko-KR" sz="1600" b="1" dirty="0">
                <a:latin typeface="+mj-ea"/>
              </a:rPr>
              <a:t>Development Environment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B2E598-C07E-4E97-A791-3D44DEFAE49A}"/>
              </a:ext>
            </a:extLst>
          </p:cNvPr>
          <p:cNvSpPr txBox="1"/>
          <p:nvPr/>
        </p:nvSpPr>
        <p:spPr>
          <a:xfrm>
            <a:off x="408316" y="918707"/>
            <a:ext cx="1139342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Language: Python 3.11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Core Libraries: 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635464-C3C1-4D56-A41B-FAE026AD6864}"/>
              </a:ext>
            </a:extLst>
          </p:cNvPr>
          <p:cNvSpPr txBox="1"/>
          <p:nvPr/>
        </p:nvSpPr>
        <p:spPr>
          <a:xfrm>
            <a:off x="738611" y="1516179"/>
            <a:ext cx="11519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Data Handling: pandas, </a:t>
            </a:r>
            <a:r>
              <a:rPr lang="en-US" altLang="ko-KR" sz="1400" dirty="0" err="1"/>
              <a:t>xarray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numpy</a:t>
            </a: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3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Machine Learning: </a:t>
            </a:r>
            <a:r>
              <a:rPr lang="en-US" altLang="ko-KR" sz="1400" dirty="0" err="1"/>
              <a:t>scikit</a:t>
            </a:r>
            <a:r>
              <a:rPr lang="en-US" altLang="ko-KR" sz="1400" dirty="0"/>
              <a:t>-learn, </a:t>
            </a:r>
            <a:r>
              <a:rPr lang="en-US" altLang="ko-KR" sz="1400" dirty="0" err="1"/>
              <a:t>lightgbm</a:t>
            </a: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3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Visualization &amp; </a:t>
            </a:r>
            <a:r>
              <a:rPr lang="en-US" altLang="ko-KR" sz="1400" dirty="0" err="1"/>
              <a:t>Wep</a:t>
            </a:r>
            <a:r>
              <a:rPr lang="en-US" altLang="ko-KR" sz="1400" dirty="0"/>
              <a:t> App: matplotlib, </a:t>
            </a:r>
            <a:r>
              <a:rPr lang="en-US" altLang="ko-KR" sz="1400" dirty="0" err="1"/>
              <a:t>streamlit</a:t>
            </a:r>
            <a:endParaRPr lang="en-US" altLang="ko-KR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36724A-E194-4F77-B97C-A8E7A983D8F9}"/>
              </a:ext>
            </a:extLst>
          </p:cNvPr>
          <p:cNvSpPr txBox="1"/>
          <p:nvPr/>
        </p:nvSpPr>
        <p:spPr>
          <a:xfrm>
            <a:off x="123330" y="3870107"/>
            <a:ext cx="8558938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SzPts val="1400"/>
              <a:buFont typeface="Wingdings" panose="05000000000000000000" pitchFamily="2" charset="2"/>
              <a:buChar char="v"/>
            </a:pPr>
            <a:r>
              <a:rPr lang="en-US" altLang="ko-KR" sz="1600" b="1" dirty="0">
                <a:latin typeface="+mj-ea"/>
              </a:rPr>
              <a:t>Code Sharing &amp; Application Deployment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75912F-F087-44EF-83D2-74B105794D51}"/>
              </a:ext>
            </a:extLst>
          </p:cNvPr>
          <p:cNvSpPr txBox="1"/>
          <p:nvPr/>
        </p:nvSpPr>
        <p:spPr>
          <a:xfrm>
            <a:off x="408316" y="2326972"/>
            <a:ext cx="1139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Workflow Pipeline: </a:t>
            </a:r>
            <a:endParaRPr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F8E124-B6C6-44F0-AE5A-B377219DDCEF}"/>
              </a:ext>
            </a:extLst>
          </p:cNvPr>
          <p:cNvSpPr txBox="1"/>
          <p:nvPr/>
        </p:nvSpPr>
        <p:spPr>
          <a:xfrm>
            <a:off x="412448" y="4284950"/>
            <a:ext cx="113934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연구의 </a:t>
            </a:r>
            <a:r>
              <a:rPr lang="ko-KR" altLang="en-US" sz="1400" b="1" dirty="0"/>
              <a:t>투명성 및 재현성 확보</a:t>
            </a:r>
            <a:r>
              <a:rPr lang="ko-KR" altLang="en-US" sz="1400" dirty="0"/>
              <a:t>를</a:t>
            </a:r>
            <a:r>
              <a:rPr lang="ko-KR" altLang="en-US" sz="1400" b="1" dirty="0"/>
              <a:t> </a:t>
            </a:r>
            <a:r>
              <a:rPr lang="ko-KR" altLang="en-US" sz="1400" dirty="0"/>
              <a:t>위해</a:t>
            </a:r>
            <a:r>
              <a:rPr lang="en-US" altLang="ko-KR" sz="1400" dirty="0"/>
              <a:t>, </a:t>
            </a:r>
            <a:r>
              <a:rPr lang="ko-KR" altLang="en-US" sz="1400" dirty="0"/>
              <a:t>데이터 전처리부터 모델링</a:t>
            </a:r>
            <a:r>
              <a:rPr lang="en-US" altLang="ko-KR" sz="1400" dirty="0"/>
              <a:t>, </a:t>
            </a:r>
            <a:r>
              <a:rPr lang="ko-KR" altLang="en-US" sz="1400" dirty="0"/>
              <a:t>대시보드 구현에 사용된 모든 소스 코드와 </a:t>
            </a:r>
            <a:r>
              <a:rPr lang="ko-KR" altLang="en-US" sz="1400" b="1" dirty="0"/>
              <a:t>데이터를 </a:t>
            </a:r>
            <a:r>
              <a:rPr lang="en-US" altLang="ko-KR" sz="1400" b="1" dirty="0"/>
              <a:t>GitHub </a:t>
            </a:r>
            <a:r>
              <a:rPr lang="ko-KR" altLang="en-US" sz="1400" b="1" dirty="0"/>
              <a:t>저장소에 공개</a:t>
            </a:r>
            <a:r>
              <a:rPr lang="ko-KR" altLang="en-US" sz="1400" dirty="0"/>
              <a:t>함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개발 된 </a:t>
            </a:r>
            <a:r>
              <a:rPr lang="en-US" altLang="ko-KR" sz="1400" dirty="0"/>
              <a:t>AI</a:t>
            </a:r>
            <a:r>
              <a:rPr lang="ko-KR" altLang="en-US" sz="1400" dirty="0"/>
              <a:t> 모델은 누구나 쉽게 사용하고 결과를 확인할 수 있도록 </a:t>
            </a:r>
            <a:r>
              <a:rPr lang="en-US" altLang="ko-KR" sz="1400" b="1" dirty="0" err="1"/>
              <a:t>Streamlit</a:t>
            </a:r>
            <a:r>
              <a:rPr lang="ko-KR" altLang="en-US" sz="1400" dirty="0"/>
              <a:t>을 활용하여 </a:t>
            </a:r>
            <a:r>
              <a:rPr lang="ko-KR" altLang="en-US" sz="1400" b="1" dirty="0"/>
              <a:t>대화형 웹 대시보드를 구축하고 배포함</a:t>
            </a:r>
            <a:r>
              <a:rPr lang="en-US" altLang="ko-KR" sz="1400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GitHub URL: </a:t>
            </a:r>
            <a:r>
              <a:rPr lang="en-US" altLang="ko-KR" sz="1400" i="1" dirty="0">
                <a:hlinkClick r:id="rId4"/>
              </a:rPr>
              <a:t>https://github.com/yangbeomseok/SST_Prediction_APP/blob/main/LightGBM_modeling.py</a:t>
            </a:r>
            <a:endParaRPr lang="en-US" altLang="ko-K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DashBoard</a:t>
            </a:r>
            <a:r>
              <a:rPr lang="en-US" altLang="ko-KR" sz="1400" dirty="0"/>
              <a:t> URL: </a:t>
            </a:r>
            <a:r>
              <a:rPr lang="en-US" altLang="ko-KR" sz="1400" i="1" dirty="0"/>
              <a:t>https://sstpredictionapp-bgu6hfkkjvy4vnx5jtyqtl.streamlit.app/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QR Code:              </a:t>
            </a:r>
            <a:endParaRPr lang="ko-KR" alt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1C72BC-8595-4BC8-96FB-B6EDB67309F9}"/>
              </a:ext>
            </a:extLst>
          </p:cNvPr>
          <p:cNvSpPr txBox="1"/>
          <p:nvPr/>
        </p:nvSpPr>
        <p:spPr>
          <a:xfrm>
            <a:off x="738611" y="2638563"/>
            <a:ext cx="1151978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/>
              <a:t>Data Ingestion: </a:t>
            </a:r>
            <a:r>
              <a:rPr lang="en-US" altLang="ko-KR" sz="1400" dirty="0"/>
              <a:t>6</a:t>
            </a:r>
            <a:r>
              <a:rPr lang="ko-KR" altLang="en-US" sz="1400" dirty="0" err="1"/>
              <a:t>개년치</a:t>
            </a:r>
            <a:r>
              <a:rPr lang="ko-KR" altLang="en-US" sz="1400" dirty="0"/>
              <a:t> </a:t>
            </a:r>
            <a:r>
              <a:rPr lang="en-US" altLang="ko-KR" sz="1400" dirty="0" err="1"/>
              <a:t>NetCDF</a:t>
            </a:r>
            <a:r>
              <a:rPr lang="en-US" altLang="ko-KR" sz="1400" dirty="0"/>
              <a:t> </a:t>
            </a:r>
            <a:r>
              <a:rPr lang="ko-KR" altLang="en-US" sz="1400" dirty="0"/>
              <a:t>파일을 </a:t>
            </a:r>
            <a:r>
              <a:rPr lang="en-US" altLang="ko-KR" sz="1400" dirty="0" err="1"/>
              <a:t>xarray</a:t>
            </a:r>
            <a:r>
              <a:rPr lang="ko-KR" altLang="en-US" sz="1400" dirty="0"/>
              <a:t>와 </a:t>
            </a:r>
            <a:r>
              <a:rPr lang="en-US" altLang="ko-KR" sz="1400" dirty="0"/>
              <a:t>pandas</a:t>
            </a:r>
            <a:r>
              <a:rPr lang="ko-KR" altLang="en-US" sz="1400" dirty="0"/>
              <a:t>를 이용해 하나의 시계열 데이터프레임으로 통합 및 정제</a:t>
            </a:r>
            <a:r>
              <a:rPr lang="en-US" altLang="ko-KR" sz="1400" dirty="0"/>
              <a:t>.</a:t>
            </a:r>
          </a:p>
          <a:p>
            <a:r>
              <a:rPr lang="en-US" altLang="ko-KR" sz="200" dirty="0"/>
              <a:t>.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altLang="ko-KR" sz="1400" b="1" dirty="0"/>
              <a:t>Feature Engineering: </a:t>
            </a:r>
            <a:r>
              <a:rPr lang="ko-KR" altLang="en-US" sz="1400"/>
              <a:t>과거의 데이터를 </a:t>
            </a:r>
            <a:r>
              <a:rPr lang="ko-KR" altLang="en-US" sz="1400" dirty="0"/>
              <a:t>힌트로 사용하는 </a:t>
            </a:r>
            <a:r>
              <a:rPr lang="ko-KR" altLang="en-US" sz="1400" b="1" dirty="0"/>
              <a:t>시차 특성</a:t>
            </a:r>
            <a:r>
              <a:rPr lang="en-US" altLang="ko-KR" sz="1400" b="1" dirty="0"/>
              <a:t>(Lag Feature)</a:t>
            </a:r>
            <a:r>
              <a:rPr lang="ko-KR" altLang="en-US" sz="1400" dirty="0"/>
              <a:t>을 생성하여 모델의 예측력 강화</a:t>
            </a:r>
            <a:r>
              <a:rPr lang="en-US" altLang="ko-KR" sz="1400" dirty="0"/>
              <a:t>.</a:t>
            </a:r>
          </a:p>
          <a:p>
            <a:pPr marL="342900" indent="-342900">
              <a:buFont typeface="+mj-lt"/>
              <a:buAutoNum type="arabicPeriod" startAt="2"/>
            </a:pPr>
            <a:endParaRPr lang="en-US" altLang="ko-KR" sz="300" dirty="0"/>
          </a:p>
          <a:p>
            <a:pPr marL="342900" indent="-342900">
              <a:buFont typeface="+mj-lt"/>
              <a:buAutoNum type="arabicPeriod" startAt="2"/>
            </a:pPr>
            <a:r>
              <a:rPr lang="en-US" altLang="ko-KR" sz="1400" b="1" dirty="0"/>
              <a:t>Data Split: </a:t>
            </a:r>
            <a:r>
              <a:rPr lang="ko-KR" altLang="en-US" sz="1400" dirty="0"/>
              <a:t>전체 데이터를 </a:t>
            </a:r>
            <a:r>
              <a:rPr lang="ko-KR" altLang="en-US" sz="1400" b="1" dirty="0"/>
              <a:t>학습</a:t>
            </a:r>
            <a:r>
              <a:rPr lang="en-US" altLang="ko-KR" sz="1400" b="1" dirty="0"/>
              <a:t>(2019~2022), </a:t>
            </a:r>
            <a:r>
              <a:rPr lang="ko-KR" altLang="en-US" sz="1400" b="1" dirty="0"/>
              <a:t>검증</a:t>
            </a:r>
            <a:r>
              <a:rPr lang="en-US" altLang="ko-KR" sz="1400" b="1" dirty="0"/>
              <a:t>(2023), </a:t>
            </a:r>
            <a:r>
              <a:rPr lang="ko-KR" altLang="en-US" sz="1400" b="1" dirty="0"/>
              <a:t>테스트</a:t>
            </a:r>
            <a:r>
              <a:rPr lang="en-US" altLang="ko-KR" sz="1400" b="1" dirty="0"/>
              <a:t>(2024)</a:t>
            </a:r>
            <a:r>
              <a:rPr lang="ko-KR" altLang="en-US" sz="1400" dirty="0"/>
              <a:t>용으로 분할</a:t>
            </a:r>
            <a:r>
              <a:rPr lang="en-US" altLang="ko-KR" sz="1400" dirty="0"/>
              <a:t>.</a:t>
            </a:r>
          </a:p>
          <a:p>
            <a:pPr marL="342900" indent="-342900">
              <a:buFont typeface="+mj-lt"/>
              <a:buAutoNum type="arabicPeriod" startAt="2"/>
            </a:pPr>
            <a:endParaRPr lang="en-US" altLang="ko-KR" sz="300" dirty="0"/>
          </a:p>
          <a:p>
            <a:pPr marL="342900" indent="-342900">
              <a:buFont typeface="+mj-lt"/>
              <a:buAutoNum type="arabicPeriod" startAt="2"/>
            </a:pPr>
            <a:r>
              <a:rPr lang="en-US" altLang="ko-KR" sz="1400" b="1" dirty="0"/>
              <a:t>Model Training: </a:t>
            </a:r>
            <a:r>
              <a:rPr lang="en-US" altLang="ko-KR" sz="1400" b="1" dirty="0" err="1"/>
              <a:t>LightGBM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모델</a:t>
            </a:r>
            <a:r>
              <a:rPr lang="ko-KR" altLang="en-US" sz="1400" dirty="0"/>
              <a:t>을</a:t>
            </a:r>
            <a:r>
              <a:rPr lang="ko-KR" altLang="en-US" sz="1400" b="1" dirty="0"/>
              <a:t> </a:t>
            </a:r>
            <a:r>
              <a:rPr lang="ko-KR" altLang="en-US" sz="1400" dirty="0"/>
              <a:t>학습 데이터로 훈련</a:t>
            </a:r>
            <a:r>
              <a:rPr lang="en-US" altLang="ko-KR" sz="1400" dirty="0"/>
              <a:t>.</a:t>
            </a:r>
          </a:p>
          <a:p>
            <a:pPr marL="342900" indent="-342900">
              <a:buFont typeface="+mj-lt"/>
              <a:buAutoNum type="arabicPeriod" startAt="2"/>
            </a:pPr>
            <a:endParaRPr lang="en-US" altLang="ko-KR" sz="300" dirty="0"/>
          </a:p>
          <a:p>
            <a:pPr marL="342900" indent="-342900">
              <a:buFont typeface="+mj-lt"/>
              <a:buAutoNum type="arabicPeriod" startAt="2"/>
            </a:pPr>
            <a:r>
              <a:rPr lang="en-US" altLang="ko-KR" sz="1400" b="1" dirty="0"/>
              <a:t>Performance Evaluation: </a:t>
            </a:r>
            <a:r>
              <a:rPr lang="ko-KR" altLang="en-US" sz="1400" dirty="0"/>
              <a:t>테스트 데이터에 대한 예측을 수행하고</a:t>
            </a:r>
            <a:r>
              <a:rPr lang="en-US" altLang="ko-KR" sz="1400" dirty="0"/>
              <a:t>, </a:t>
            </a:r>
            <a:r>
              <a:rPr lang="en-US" altLang="ko-KR" sz="1400" b="1" dirty="0"/>
              <a:t>MAE/RMSE</a:t>
            </a:r>
            <a:r>
              <a:rPr lang="ko-KR" altLang="en-US" sz="1400" dirty="0"/>
              <a:t>로 최종 성능을 정량적으로 평가</a:t>
            </a:r>
            <a:r>
              <a:rPr lang="en-US" altLang="ko-KR" sz="1400" dirty="0"/>
              <a:t>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5A75314-E783-4258-9E7B-131A08524B4F}"/>
              </a:ext>
            </a:extLst>
          </p:cNvPr>
          <p:cNvGrpSpPr/>
          <p:nvPr/>
        </p:nvGrpSpPr>
        <p:grpSpPr>
          <a:xfrm>
            <a:off x="4409856" y="5592505"/>
            <a:ext cx="3370243" cy="1134000"/>
            <a:chOff x="3989013" y="5632949"/>
            <a:chExt cx="3370243" cy="1134000"/>
          </a:xfrm>
        </p:grpSpPr>
        <p:pic>
          <p:nvPicPr>
            <p:cNvPr id="4098" name="Picture 2" descr="QR 코드 이미지">
              <a:extLst>
                <a:ext uri="{FF2B5EF4-FFF2-40B4-BE49-F238E27FC236}">
                  <a16:creationId xmlns:a16="http://schemas.microsoft.com/office/drawing/2014/main" id="{5CB4874D-7564-405C-A37D-88CCFB2885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27" t="2612" r="2984" b="3946"/>
            <a:stretch/>
          </p:blipFill>
          <p:spPr bwMode="auto">
            <a:xfrm>
              <a:off x="3989013" y="5632949"/>
              <a:ext cx="1145499" cy="113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QR 코드 이미지">
              <a:extLst>
                <a:ext uri="{FF2B5EF4-FFF2-40B4-BE49-F238E27FC236}">
                  <a16:creationId xmlns:a16="http://schemas.microsoft.com/office/drawing/2014/main" id="{E16AFF33-ED78-45E6-9F0B-BDE602E663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3" t="3074" r="3869" b="3351"/>
            <a:stretch/>
          </p:blipFill>
          <p:spPr bwMode="auto">
            <a:xfrm>
              <a:off x="6235011" y="5632949"/>
              <a:ext cx="1124245" cy="113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89326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3B569-A55B-47BA-9177-941E10980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0" name="내용 개체 틀 19">
            <a:extLst>
              <a:ext uri="{FF2B5EF4-FFF2-40B4-BE49-F238E27FC236}">
                <a16:creationId xmlns:a16="http://schemas.microsoft.com/office/drawing/2014/main" id="{F51FFC73-E4FB-4F4D-8AF5-75B308396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414" y="1825625"/>
            <a:ext cx="5439172" cy="4351338"/>
          </a:xfr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0DAE53B-3324-4143-A01A-1C90CC7F0E36}"/>
              </a:ext>
            </a:extLst>
          </p:cNvPr>
          <p:cNvSpPr/>
          <p:nvPr/>
        </p:nvSpPr>
        <p:spPr>
          <a:xfrm>
            <a:off x="43134" y="49602"/>
            <a:ext cx="12105732" cy="6758796"/>
          </a:xfrm>
          <a:prstGeom prst="rect">
            <a:avLst/>
          </a:prstGeom>
          <a:solidFill>
            <a:schemeClr val="bg1"/>
          </a:solidFill>
          <a:ln>
            <a:solidFill>
              <a:srgbClr val="0BA1BA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14">
            <a:extLst>
              <a:ext uri="{FF2B5EF4-FFF2-40B4-BE49-F238E27FC236}">
                <a16:creationId xmlns:a16="http://schemas.microsoft.com/office/drawing/2014/main" id="{34725A64-325D-496B-A132-24281303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088779A-0CFD-45F8-A90F-211FA2D99F8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2CFFC7A-93D9-4DB2-828D-E19147D501D8}"/>
              </a:ext>
            </a:extLst>
          </p:cNvPr>
          <p:cNvCxnSpPr>
            <a:cxnSpLocks/>
          </p:cNvCxnSpPr>
          <p:nvPr/>
        </p:nvCxnSpPr>
        <p:spPr>
          <a:xfrm>
            <a:off x="43133" y="566248"/>
            <a:ext cx="12105732" cy="0"/>
          </a:xfrm>
          <a:prstGeom prst="line">
            <a:avLst/>
          </a:prstGeom>
          <a:ln>
            <a:solidFill>
              <a:srgbClr val="0BA1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102E073-C7CD-4787-A62C-3113FA7B043A}"/>
              </a:ext>
            </a:extLst>
          </p:cNvPr>
          <p:cNvSpPr txBox="1"/>
          <p:nvPr/>
        </p:nvSpPr>
        <p:spPr>
          <a:xfrm>
            <a:off x="4174184" y="123259"/>
            <a:ext cx="3841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PART 4. Result &amp; Analysis</a:t>
            </a:r>
          </a:p>
        </p:txBody>
      </p:sp>
      <p:pic>
        <p:nvPicPr>
          <p:cNvPr id="8" name="Picture 6" descr="Fichier:KIOST.png — Wikipédia">
            <a:extLst>
              <a:ext uri="{FF2B5EF4-FFF2-40B4-BE49-F238E27FC236}">
                <a16:creationId xmlns:a16="http://schemas.microsoft.com/office/drawing/2014/main" id="{060EC8DC-2A9D-4370-8356-98E12F8E1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7133" y="115025"/>
            <a:ext cx="713104" cy="3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94BEB3-D5CD-449B-884D-6941941524C9}"/>
              </a:ext>
            </a:extLst>
          </p:cNvPr>
          <p:cNvSpPr txBox="1"/>
          <p:nvPr/>
        </p:nvSpPr>
        <p:spPr>
          <a:xfrm>
            <a:off x="119198" y="554945"/>
            <a:ext cx="8558938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SzPts val="1400"/>
              <a:buFont typeface="Wingdings" panose="05000000000000000000" pitchFamily="2" charset="2"/>
              <a:buChar char="v"/>
            </a:pPr>
            <a:r>
              <a:rPr lang="en-US" altLang="ko-KR" sz="1600" b="1" dirty="0">
                <a:latin typeface="+mj-ea"/>
              </a:rPr>
              <a:t>Model Performance Evaluation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2968C8-07C2-4A03-981A-AAD1143795A7}"/>
              </a:ext>
            </a:extLst>
          </p:cNvPr>
          <p:cNvSpPr txBox="1"/>
          <p:nvPr/>
        </p:nvSpPr>
        <p:spPr>
          <a:xfrm>
            <a:off x="408316" y="947785"/>
            <a:ext cx="113934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Test Period: </a:t>
            </a:r>
            <a:r>
              <a:rPr lang="en-US" altLang="ko-KR" sz="1400" dirty="0"/>
              <a:t>2024</a:t>
            </a:r>
            <a:r>
              <a:rPr lang="ko-KR" altLang="en-US" sz="1400" dirty="0"/>
              <a:t>년 전체 데이터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MAE (</a:t>
            </a:r>
            <a:r>
              <a:rPr lang="ko-KR" altLang="en-US" sz="1400" b="1" dirty="0"/>
              <a:t>평균 절대 오차</a:t>
            </a:r>
            <a:r>
              <a:rPr lang="en-US" altLang="ko-KR" sz="1400" b="1" dirty="0"/>
              <a:t>): 0.2903 °C, RMSE (</a:t>
            </a:r>
            <a:r>
              <a:rPr lang="ko-KR" altLang="en-US" sz="1400" b="1" dirty="0"/>
              <a:t>평균 제곱근 편차</a:t>
            </a:r>
            <a:r>
              <a:rPr lang="en-US" altLang="ko-KR" sz="1400" b="1" dirty="0"/>
              <a:t>): 0.3878 °C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결론</a:t>
            </a:r>
            <a:r>
              <a:rPr lang="en-US" altLang="ko-KR" sz="1400" b="1" dirty="0"/>
              <a:t>: </a:t>
            </a:r>
            <a:r>
              <a:rPr lang="ko-KR" altLang="en-US" sz="1400" dirty="0"/>
              <a:t>한 번도 본 적 없는 미래 데이터에 대해 평균 </a:t>
            </a:r>
            <a:r>
              <a:rPr lang="ko-KR" altLang="en-US" sz="1400" b="1" dirty="0"/>
              <a:t>약 </a:t>
            </a:r>
            <a:r>
              <a:rPr lang="en-US" altLang="ko-KR" sz="1400" b="1" dirty="0"/>
              <a:t>0.3°</a:t>
            </a:r>
            <a:r>
              <a:rPr lang="ko-KR" altLang="en-US" sz="1400" b="1" dirty="0"/>
              <a:t> 정도의 매우 높은 예측 정확도</a:t>
            </a:r>
            <a:r>
              <a:rPr lang="ko-KR" altLang="en-US" sz="1400" dirty="0"/>
              <a:t>를 달성함</a:t>
            </a:r>
            <a:r>
              <a:rPr lang="en-US" altLang="ko-KR" sz="14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C75D89-B9DD-400A-B75E-A70831CA3114}"/>
              </a:ext>
            </a:extLst>
          </p:cNvPr>
          <p:cNvSpPr txBox="1"/>
          <p:nvPr/>
        </p:nvSpPr>
        <p:spPr>
          <a:xfrm>
            <a:off x="119198" y="1653782"/>
            <a:ext cx="8558938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SzPts val="1400"/>
              <a:buFont typeface="Wingdings" panose="05000000000000000000" pitchFamily="2" charset="2"/>
              <a:buChar char="v"/>
            </a:pPr>
            <a:r>
              <a:rPr lang="en-US" altLang="ko-KR" sz="1600" b="1" dirty="0">
                <a:latin typeface="+mj-ea"/>
              </a:rPr>
              <a:t>In-depth Analysis &amp; Visualization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3D6F3F-0E5E-4F31-8CD1-14D2972C848D}"/>
              </a:ext>
            </a:extLst>
          </p:cNvPr>
          <p:cNvSpPr txBox="1"/>
          <p:nvPr/>
        </p:nvSpPr>
        <p:spPr>
          <a:xfrm>
            <a:off x="408316" y="2070442"/>
            <a:ext cx="11393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b="1" dirty="0"/>
              <a:t>특성 중요도 </a:t>
            </a:r>
            <a:r>
              <a:rPr lang="en-US" altLang="ko-KR" sz="1400" b="1" dirty="0"/>
              <a:t>(Feature Importance):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9718E5-1B25-4F36-9C28-E2090275ABAB}"/>
              </a:ext>
            </a:extLst>
          </p:cNvPr>
          <p:cNvSpPr txBox="1"/>
          <p:nvPr/>
        </p:nvSpPr>
        <p:spPr>
          <a:xfrm>
            <a:off x="756718" y="2377535"/>
            <a:ext cx="10895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/>
              <a:t>sst_lag_1 (</a:t>
            </a:r>
            <a:r>
              <a:rPr lang="ko-KR" altLang="en-US" sz="1400" b="1" dirty="0"/>
              <a:t>하루 전 수온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이 예측에 가장 결정적인 영향</a:t>
            </a:r>
            <a:r>
              <a:rPr lang="ko-KR" altLang="en-US" sz="1400" dirty="0"/>
              <a:t>을 미쳤으며</a:t>
            </a:r>
            <a:r>
              <a:rPr lang="en-US" altLang="ko-KR" sz="1400" dirty="0"/>
              <a:t>, </a:t>
            </a:r>
            <a:r>
              <a:rPr lang="ko-KR" altLang="en-US" sz="1400" dirty="0"/>
              <a:t>과거의 수온 추세와 현재 대기 상태가 그 뒤를 이음</a:t>
            </a:r>
            <a:r>
              <a:rPr lang="en-US" altLang="ko-KR" sz="1400" dirty="0"/>
              <a:t>. </a:t>
            </a:r>
            <a:r>
              <a:rPr lang="ko-KR" altLang="en-US" sz="1400" dirty="0"/>
              <a:t>이는 모델이 </a:t>
            </a:r>
            <a:r>
              <a:rPr lang="ko-KR" altLang="en-US" sz="1400" b="1" dirty="0"/>
              <a:t>물리적으로 타당한 근거</a:t>
            </a:r>
            <a:r>
              <a:rPr lang="ko-KR" altLang="en-US" sz="1400" dirty="0"/>
              <a:t>로</a:t>
            </a:r>
            <a:r>
              <a:rPr lang="ko-KR" altLang="en-US" sz="1400" b="1" dirty="0"/>
              <a:t> </a:t>
            </a:r>
            <a:r>
              <a:rPr lang="ko-KR" altLang="en-US" sz="1400" dirty="0"/>
              <a:t>예측하고 있음을 시사함</a:t>
            </a:r>
            <a:r>
              <a:rPr lang="en-US" altLang="ko-KR" sz="1400" dirty="0"/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6FD715A-0594-490B-B61E-86529B174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01" y="2897651"/>
            <a:ext cx="4463713" cy="369327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43ACB59-8C04-43CC-93FD-45764B67D449}"/>
              </a:ext>
            </a:extLst>
          </p:cNvPr>
          <p:cNvSpPr txBox="1"/>
          <p:nvPr/>
        </p:nvSpPr>
        <p:spPr>
          <a:xfrm>
            <a:off x="5471386" y="3030170"/>
            <a:ext cx="4605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월별 오차 분석</a:t>
            </a:r>
            <a:r>
              <a:rPr lang="en-US" altLang="ko-KR" sz="1400" b="1" dirty="0"/>
              <a:t> (Monthly Error Boxplot):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31E5A2-78A8-4225-ACAC-067BE7480C94}"/>
              </a:ext>
            </a:extLst>
          </p:cNvPr>
          <p:cNvSpPr txBox="1"/>
          <p:nvPr/>
        </p:nvSpPr>
        <p:spPr>
          <a:xfrm>
            <a:off x="5825151" y="3337947"/>
            <a:ext cx="6247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/>
              <a:t>모델의 예측 오차는 </a:t>
            </a:r>
            <a:r>
              <a:rPr lang="ko-KR" altLang="en-US" sz="1400" b="1" dirty="0"/>
              <a:t>여름철</a:t>
            </a:r>
            <a:r>
              <a:rPr lang="en-US" altLang="ko-KR" sz="1400" b="1" dirty="0"/>
              <a:t>(7~8</a:t>
            </a:r>
            <a:r>
              <a:rPr lang="ko-KR" altLang="en-US" sz="1400" b="1" dirty="0"/>
              <a:t>월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에 변동성이 다소 커지는 경향</a:t>
            </a:r>
            <a:r>
              <a:rPr lang="ko-KR" altLang="en-US" sz="1400" dirty="0"/>
              <a:t>을</a:t>
            </a:r>
            <a:r>
              <a:rPr lang="ko-KR" altLang="en-US" sz="1400" b="1" dirty="0"/>
              <a:t> </a:t>
            </a:r>
            <a:r>
              <a:rPr lang="ko-KR" altLang="en-US" sz="1400" dirty="0"/>
              <a:t>보임</a:t>
            </a:r>
            <a:r>
              <a:rPr lang="en-US" altLang="ko-KR" sz="1400" dirty="0"/>
              <a:t>.</a:t>
            </a:r>
            <a:r>
              <a:rPr lang="ko-KR" altLang="en-US" sz="1400" dirty="0"/>
              <a:t>이는 </a:t>
            </a:r>
            <a:r>
              <a:rPr lang="ko-KR" altLang="en-US" sz="1400" b="1" dirty="0"/>
              <a:t>태풍 등 급격한 기상 이벤트의 영향</a:t>
            </a:r>
            <a:r>
              <a:rPr lang="ko-KR" altLang="en-US" sz="1400" dirty="0"/>
              <a:t>으로 분석됨</a:t>
            </a:r>
            <a:r>
              <a:rPr lang="en-US" altLang="ko-KR" sz="1400" dirty="0"/>
              <a:t>.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BBA8E16-33C6-48D5-B850-E3D3AE6D462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9"/>
          <a:stretch/>
        </p:blipFill>
        <p:spPr>
          <a:xfrm>
            <a:off x="6275223" y="3860483"/>
            <a:ext cx="5347508" cy="2920403"/>
          </a:xfrm>
          <a:prstGeom prst="rect">
            <a:avLst/>
          </a:prstGeom>
        </p:spPr>
      </p:pic>
      <p:sp>
        <p:nvSpPr>
          <p:cNvPr id="33" name="슬라이드 번호 개체 틀 14">
            <a:extLst>
              <a:ext uri="{FF2B5EF4-FFF2-40B4-BE49-F238E27FC236}">
                <a16:creationId xmlns:a16="http://schemas.microsoft.com/office/drawing/2014/main" id="{C3706FAF-58A8-434E-9317-7854CE831B2E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088779A-0CFD-45F8-A90F-211FA2D99F8B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1454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74FBF-6026-4391-B85D-CED3903F7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5" name="내용 개체 틀 14">
            <a:extLst>
              <a:ext uri="{FF2B5EF4-FFF2-40B4-BE49-F238E27FC236}">
                <a16:creationId xmlns:a16="http://schemas.microsoft.com/office/drawing/2014/main" id="{D7A98E0D-BCF3-41FD-B92E-0CE0F82237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030" y="1825625"/>
            <a:ext cx="5299939" cy="4351338"/>
          </a:xfr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751CB11-FF5E-4813-B2CE-0582DB562FE8}"/>
              </a:ext>
            </a:extLst>
          </p:cNvPr>
          <p:cNvSpPr/>
          <p:nvPr/>
        </p:nvSpPr>
        <p:spPr>
          <a:xfrm>
            <a:off x="43133" y="49602"/>
            <a:ext cx="12105732" cy="6758796"/>
          </a:xfrm>
          <a:prstGeom prst="rect">
            <a:avLst/>
          </a:prstGeom>
          <a:solidFill>
            <a:schemeClr val="bg1"/>
          </a:solidFill>
          <a:ln>
            <a:solidFill>
              <a:srgbClr val="0BA1B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ECC9344-CA6F-4217-86C6-19DB1D1858AC}"/>
              </a:ext>
            </a:extLst>
          </p:cNvPr>
          <p:cNvCxnSpPr>
            <a:cxnSpLocks/>
          </p:cNvCxnSpPr>
          <p:nvPr/>
        </p:nvCxnSpPr>
        <p:spPr>
          <a:xfrm>
            <a:off x="43133" y="566248"/>
            <a:ext cx="12105732" cy="0"/>
          </a:xfrm>
          <a:prstGeom prst="line">
            <a:avLst/>
          </a:prstGeom>
          <a:ln>
            <a:solidFill>
              <a:srgbClr val="0BA1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89E5D6-A6CA-48D2-8615-9A01DE3E8053}"/>
              </a:ext>
            </a:extLst>
          </p:cNvPr>
          <p:cNvSpPr txBox="1"/>
          <p:nvPr/>
        </p:nvSpPr>
        <p:spPr>
          <a:xfrm>
            <a:off x="119198" y="554945"/>
            <a:ext cx="855893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SzPts val="1400"/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+mj-ea"/>
              </a:rPr>
              <a:t>Summary &amp; </a:t>
            </a:r>
            <a:r>
              <a:rPr lang="en-US" altLang="ko-KR" b="1" dirty="0" err="1">
                <a:latin typeface="+mj-ea"/>
              </a:rPr>
              <a:t>Significanced</a:t>
            </a:r>
            <a:endParaRPr lang="en-US" altLang="ko-KR" b="1" dirty="0">
              <a:latin typeface="+mj-ea"/>
            </a:endParaRPr>
          </a:p>
        </p:txBody>
      </p:sp>
      <p:pic>
        <p:nvPicPr>
          <p:cNvPr id="9" name="Picture 6" descr="Fichier:KIOST.png — Wikipédia">
            <a:extLst>
              <a:ext uri="{FF2B5EF4-FFF2-40B4-BE49-F238E27FC236}">
                <a16:creationId xmlns:a16="http://schemas.microsoft.com/office/drawing/2014/main" id="{97922E73-36EA-4B59-8FAD-E37DB6E8F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7133" y="115025"/>
            <a:ext cx="713104" cy="3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140F85-AC5F-4D88-ABF8-1B338C6BAEFA}"/>
              </a:ext>
            </a:extLst>
          </p:cNvPr>
          <p:cNvSpPr txBox="1"/>
          <p:nvPr/>
        </p:nvSpPr>
        <p:spPr>
          <a:xfrm>
            <a:off x="4081871" y="123259"/>
            <a:ext cx="4028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PART 5. Conclusion &amp; Future 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0DFF48-0584-4BC3-ADD6-4F5B49881606}"/>
              </a:ext>
            </a:extLst>
          </p:cNvPr>
          <p:cNvSpPr txBox="1"/>
          <p:nvPr/>
        </p:nvSpPr>
        <p:spPr>
          <a:xfrm>
            <a:off x="408316" y="982078"/>
            <a:ext cx="11393426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본 프로젝트를 통해</a:t>
            </a:r>
            <a:r>
              <a:rPr lang="en-US" altLang="ko-KR" sz="1600" dirty="0"/>
              <a:t>, ERA5 </a:t>
            </a:r>
            <a:r>
              <a:rPr lang="ko-KR" altLang="en-US" sz="1600" dirty="0"/>
              <a:t>데이터와 </a:t>
            </a:r>
            <a:r>
              <a:rPr lang="en-US" altLang="ko-KR" sz="1600" dirty="0" err="1"/>
              <a:t>LightGBM</a:t>
            </a:r>
            <a:r>
              <a:rPr lang="ko-KR" altLang="en-US" sz="1600" dirty="0"/>
              <a:t>을 활용하여 부산 연안의 해수면 온도를 </a:t>
            </a:r>
            <a:r>
              <a:rPr lang="ko-KR" altLang="en-US" sz="1600" b="1" dirty="0"/>
              <a:t>높은 정확도로 예측하는 </a:t>
            </a:r>
            <a:r>
              <a:rPr lang="en-US" altLang="ko-KR" sz="1600" b="1" dirty="0"/>
              <a:t>AI </a:t>
            </a:r>
            <a:r>
              <a:rPr lang="ko-KR" altLang="en-US" sz="1600" b="1" dirty="0"/>
              <a:t>모델을 성공적으로 구축</a:t>
            </a:r>
            <a:r>
              <a:rPr lang="ko-KR" altLang="en-US" sz="1600" dirty="0"/>
              <a:t>하였음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특히</a:t>
            </a:r>
            <a:r>
              <a:rPr lang="en-US" altLang="ko-KR" sz="1600" dirty="0"/>
              <a:t>, </a:t>
            </a:r>
            <a:r>
              <a:rPr lang="ko-KR" altLang="en-US" sz="1600" dirty="0"/>
              <a:t>연구의 전 과정을 </a:t>
            </a:r>
            <a:r>
              <a:rPr lang="en-US" altLang="ko-KR" sz="1600" b="1" dirty="0"/>
              <a:t>GitHub</a:t>
            </a:r>
            <a:r>
              <a:rPr lang="ko-KR" altLang="en-US" sz="1600" b="1" dirty="0"/>
              <a:t>에 투명하게 공개하고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Streamlit</a:t>
            </a:r>
            <a:r>
              <a:rPr lang="ko-KR" altLang="en-US" sz="1600" dirty="0"/>
              <a:t>을 통해 </a:t>
            </a:r>
            <a:r>
              <a:rPr lang="ko-KR" altLang="en-US" sz="1600" b="1" dirty="0"/>
              <a:t>실제 활용 가능한 서비스로 배포까지 완료</a:t>
            </a:r>
            <a:r>
              <a:rPr lang="ko-KR" altLang="en-US" sz="1600" dirty="0"/>
              <a:t>했다는</a:t>
            </a:r>
            <a:r>
              <a:rPr lang="ko-KR" altLang="en-US" sz="1600" b="1" dirty="0"/>
              <a:t> </a:t>
            </a:r>
            <a:r>
              <a:rPr lang="ko-KR" altLang="en-US" sz="1600" dirty="0"/>
              <a:t>점에서 큰 의의를 가짐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개발된 모델과 대시보드는 </a:t>
            </a:r>
            <a:r>
              <a:rPr lang="ko-KR" altLang="en-US" sz="1600" b="1" dirty="0"/>
              <a:t>이상 수온 모니터링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양식업 및 어업 지원 </a:t>
            </a:r>
            <a:r>
              <a:rPr lang="ko-KR" altLang="en-US" sz="1600" dirty="0"/>
              <a:t>등 다양한 해양 분야에 </a:t>
            </a:r>
            <a:r>
              <a:rPr lang="ko-KR" altLang="en-US" sz="1600" b="1" dirty="0"/>
              <a:t>실질적으로 기여</a:t>
            </a:r>
            <a:r>
              <a:rPr lang="ko-KR" altLang="en-US" sz="1600" dirty="0"/>
              <a:t>할</a:t>
            </a:r>
            <a:r>
              <a:rPr lang="ko-KR" altLang="en-US" sz="1600" b="1" dirty="0"/>
              <a:t> </a:t>
            </a:r>
            <a:r>
              <a:rPr lang="ko-KR" altLang="en-US" sz="1600" dirty="0"/>
              <a:t>수 있는 잠재력을 보여줌</a:t>
            </a:r>
            <a:r>
              <a:rPr lang="en-US" altLang="ko-KR" sz="16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E1B2B3-FF72-47B5-9267-720861563518}"/>
              </a:ext>
            </a:extLst>
          </p:cNvPr>
          <p:cNvSpPr txBox="1"/>
          <p:nvPr/>
        </p:nvSpPr>
        <p:spPr>
          <a:xfrm>
            <a:off x="119198" y="2576105"/>
            <a:ext cx="855893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SzPts val="1400"/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+mj-ea"/>
              </a:rPr>
              <a:t>Future Directions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BE3F5B-8664-425D-B5DE-416C2D4C05EB}"/>
              </a:ext>
            </a:extLst>
          </p:cNvPr>
          <p:cNvSpPr txBox="1"/>
          <p:nvPr/>
        </p:nvSpPr>
        <p:spPr>
          <a:xfrm>
            <a:off x="399286" y="3033463"/>
            <a:ext cx="1139342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모델 고도화</a:t>
            </a:r>
            <a:r>
              <a:rPr lang="en-US" altLang="ko-KR" sz="1600" b="1" dirty="0"/>
              <a:t>:</a:t>
            </a:r>
            <a:r>
              <a:rPr lang="ko-KR" altLang="en-US" sz="1600" dirty="0"/>
              <a:t> </a:t>
            </a:r>
            <a:r>
              <a:rPr lang="en-US" altLang="ko-KR" sz="1600" b="1" dirty="0"/>
              <a:t>LSTM</a:t>
            </a:r>
            <a:r>
              <a:rPr lang="en-US" altLang="ko-KR" sz="1600" dirty="0"/>
              <a:t> </a:t>
            </a:r>
            <a:r>
              <a:rPr lang="ko-KR" altLang="en-US" sz="1600" dirty="0"/>
              <a:t>등 </a:t>
            </a:r>
            <a:r>
              <a:rPr lang="ko-KR" altLang="en-US" sz="1600" dirty="0" err="1"/>
              <a:t>딥러닝</a:t>
            </a:r>
            <a:r>
              <a:rPr lang="ko-KR" altLang="en-US" sz="1600" dirty="0"/>
              <a:t> 시계열 모델과의 성능 비교 연구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데이터 확장</a:t>
            </a:r>
            <a:r>
              <a:rPr lang="en-US" altLang="ko-KR" sz="1600" b="1" dirty="0"/>
              <a:t>:</a:t>
            </a:r>
            <a:r>
              <a:rPr lang="ko-KR" altLang="en-US" sz="1600" dirty="0"/>
              <a:t> 해양 부이 등 </a:t>
            </a:r>
            <a:r>
              <a:rPr lang="ko-KR" altLang="en-US" sz="1600" b="1" dirty="0"/>
              <a:t>실측 데이터 통합 </a:t>
            </a:r>
            <a:r>
              <a:rPr lang="ko-KR" altLang="en-US" sz="1600" dirty="0"/>
              <a:t>및 추가 변수 활용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서비스 확장</a:t>
            </a:r>
            <a:r>
              <a:rPr lang="en-US" altLang="ko-KR" sz="1600" b="1" dirty="0"/>
              <a:t>:</a:t>
            </a:r>
            <a:r>
              <a:rPr lang="ko-KR" altLang="en-US" sz="1600" dirty="0"/>
              <a:t> 단일 지점을 넘어 부산 연안 전체의 수온 분포를 </a:t>
            </a:r>
            <a:r>
              <a:rPr lang="en-US" altLang="ko-KR" sz="1600" b="1" dirty="0"/>
              <a:t>2D </a:t>
            </a:r>
            <a:r>
              <a:rPr lang="ko-KR" altLang="en-US" sz="1600" b="1" dirty="0" err="1"/>
              <a:t>맵으로</a:t>
            </a:r>
            <a:r>
              <a:rPr lang="ko-KR" altLang="en-US" sz="1600" b="1" dirty="0"/>
              <a:t> 예측</a:t>
            </a:r>
            <a:r>
              <a:rPr lang="ko-KR" altLang="en-US" sz="1600" dirty="0"/>
              <a:t>하는</a:t>
            </a:r>
            <a:r>
              <a:rPr lang="ko-KR" altLang="en-US" sz="1600" b="1" dirty="0"/>
              <a:t> </a:t>
            </a:r>
            <a:r>
              <a:rPr lang="ko-KR" altLang="en-US" sz="1600" dirty="0"/>
              <a:t>모델 개발</a:t>
            </a:r>
            <a:r>
              <a:rPr lang="en-US" altLang="ko-KR" sz="1600" dirty="0"/>
              <a:t>.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D16800-D63E-45B8-B385-6B7B246C6449}"/>
              </a:ext>
            </a:extLst>
          </p:cNvPr>
          <p:cNvGrpSpPr/>
          <p:nvPr/>
        </p:nvGrpSpPr>
        <p:grpSpPr>
          <a:xfrm>
            <a:off x="636635" y="4164632"/>
            <a:ext cx="10683295" cy="2429773"/>
            <a:chOff x="364653" y="4164799"/>
            <a:chExt cx="10683295" cy="2429773"/>
          </a:xfrm>
        </p:grpSpPr>
        <p:pic>
          <p:nvPicPr>
            <p:cNvPr id="2050" name="Picture 2" descr="LSTM (Long Short Term Memory)">
              <a:extLst>
                <a:ext uri="{FF2B5EF4-FFF2-40B4-BE49-F238E27FC236}">
                  <a16:creationId xmlns:a16="http://schemas.microsoft.com/office/drawing/2014/main" id="{FC1DCEA8-E446-4125-8784-9E571271CB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653" y="4182572"/>
              <a:ext cx="3975141" cy="241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한수원, 국가관측망 연계 실시간 해양정보 서비스 강화 | 올레TV 경주방송">
              <a:extLst>
                <a:ext uri="{FF2B5EF4-FFF2-40B4-BE49-F238E27FC236}">
                  <a16:creationId xmlns:a16="http://schemas.microsoft.com/office/drawing/2014/main" id="{05A799D5-F80A-4DD8-95BD-FD1EAC6FB1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7307" y="4164799"/>
              <a:ext cx="3216000" cy="241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6E744F4E-07F4-406C-84E9-2E63CB758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10127" y="4164799"/>
              <a:ext cx="2937821" cy="2412000"/>
            </a:xfrm>
            <a:prstGeom prst="rect">
              <a:avLst/>
            </a:prstGeom>
          </p:spPr>
        </p:pic>
      </p:grpSp>
      <p:sp>
        <p:nvSpPr>
          <p:cNvPr id="5" name="슬라이드 번호 개체 틀 14">
            <a:extLst>
              <a:ext uri="{FF2B5EF4-FFF2-40B4-BE49-F238E27FC236}">
                <a16:creationId xmlns:a16="http://schemas.microsoft.com/office/drawing/2014/main" id="{CE287AAE-3A0E-4B06-B49B-2573A2CEB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088779A-0CFD-45F8-A90F-211FA2D99F8B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329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235973A-65A2-422B-865D-6879E12EE6AD}"/>
              </a:ext>
            </a:extLst>
          </p:cNvPr>
          <p:cNvSpPr/>
          <p:nvPr/>
        </p:nvSpPr>
        <p:spPr>
          <a:xfrm>
            <a:off x="43134" y="49602"/>
            <a:ext cx="12105732" cy="6758796"/>
          </a:xfrm>
          <a:prstGeom prst="rect">
            <a:avLst/>
          </a:prstGeom>
          <a:solidFill>
            <a:schemeClr val="bg1"/>
          </a:solidFill>
          <a:ln>
            <a:solidFill>
              <a:srgbClr val="0BA1B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FCBFD8C-066F-48ED-8DDA-9FCF26B6F3F6}"/>
              </a:ext>
            </a:extLst>
          </p:cNvPr>
          <p:cNvGrpSpPr/>
          <p:nvPr/>
        </p:nvGrpSpPr>
        <p:grpSpPr>
          <a:xfrm>
            <a:off x="3814194" y="1553853"/>
            <a:ext cx="4563611" cy="3750294"/>
            <a:chOff x="3833769" y="1319867"/>
            <a:chExt cx="4563611" cy="3750294"/>
          </a:xfrm>
        </p:grpSpPr>
        <p:pic>
          <p:nvPicPr>
            <p:cNvPr id="6" name="그래픽 5" descr="통계">
              <a:extLst>
                <a:ext uri="{FF2B5EF4-FFF2-40B4-BE49-F238E27FC236}">
                  <a16:creationId xmlns:a16="http://schemas.microsoft.com/office/drawing/2014/main" id="{1D5C0340-DD1C-4B45-81A7-5AE8E9E11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56651" y="1319867"/>
              <a:ext cx="3278697" cy="327869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261EB9-D5E6-44A2-9596-300F3757368E}"/>
                </a:ext>
              </a:extLst>
            </p:cNvPr>
            <p:cNvSpPr txBox="1"/>
            <p:nvPr/>
          </p:nvSpPr>
          <p:spPr>
            <a:xfrm>
              <a:off x="3833769" y="4362275"/>
              <a:ext cx="456361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4000" b="1" dirty="0">
                  <a:solidFill>
                    <a:srgbClr val="0BA1BA"/>
                  </a:solidFill>
                </a:rPr>
                <a:t>감사합니다</a:t>
              </a:r>
              <a:r>
                <a:rPr lang="en-US" altLang="ko-KR" sz="4000" b="1" dirty="0">
                  <a:solidFill>
                    <a:srgbClr val="0BA1BA"/>
                  </a:solidFill>
                </a:rPr>
                <a:t>.</a:t>
              </a:r>
              <a:endParaRPr lang="ko-KR" altLang="en-US" sz="4000" b="1" dirty="0">
                <a:solidFill>
                  <a:srgbClr val="0BA1BA"/>
                </a:solidFill>
              </a:endParaRPr>
            </a:p>
          </p:txBody>
        </p:sp>
      </p:grpSp>
      <p:sp>
        <p:nvSpPr>
          <p:cNvPr id="9" name="슬라이드 번호 개체 틀 25">
            <a:extLst>
              <a:ext uri="{FF2B5EF4-FFF2-40B4-BE49-F238E27FC236}">
                <a16:creationId xmlns:a16="http://schemas.microsoft.com/office/drawing/2014/main" id="{2CDDA4C8-60F8-4776-9B47-787F08011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088779A-0CFD-45F8-A90F-211FA2D99F8B}" type="slidenum">
              <a:rPr lang="ko-KR" altLang="en-US" smtClean="0"/>
              <a:t>10</a:t>
            </a:fld>
            <a:endParaRPr lang="ko-KR" altLang="en-US" dirty="0"/>
          </a:p>
        </p:txBody>
      </p:sp>
      <p:pic>
        <p:nvPicPr>
          <p:cNvPr id="10" name="Picture 6" descr="Fichier:KIOST.png — Wikipédia">
            <a:extLst>
              <a:ext uri="{FF2B5EF4-FFF2-40B4-BE49-F238E27FC236}">
                <a16:creationId xmlns:a16="http://schemas.microsoft.com/office/drawing/2014/main" id="{35B6E612-255B-46CF-8396-77DF7BD98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7133" y="115025"/>
            <a:ext cx="713104" cy="3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1847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1597</Words>
  <Application>Microsoft Office PowerPoint</Application>
  <PresentationFormat>와이드스크린</PresentationFormat>
  <Paragraphs>183</Paragraphs>
  <Slides>10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jaemoo</dc:creator>
  <cp:lastModifiedBy>jaemoo</cp:lastModifiedBy>
  <cp:revision>39</cp:revision>
  <dcterms:created xsi:type="dcterms:W3CDTF">2025-07-11T04:05:14Z</dcterms:created>
  <dcterms:modified xsi:type="dcterms:W3CDTF">2025-07-15T00:39:14Z</dcterms:modified>
</cp:coreProperties>
</file>